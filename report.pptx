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58" r:id="rId5"/>
    <p:sldId id="270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31" y="23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AE7B9-0C9C-11C7-F1D5-C0C1B872D9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A08B4D-EDBA-9972-FA73-9E562CFF2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A49AB-4FF7-3D78-7D69-637D6600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1465-71C3-7CDF-0352-7AEA863D7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84516-5103-C737-57B1-3B1B5A44B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3666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887F4-150D-C64D-6C71-F8C55387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BE37-C696-CF59-7B35-CAC01E96C6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4906E-62DB-8119-C384-88253C0F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4F4C6-0795-7236-DA5A-0C181B9C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BA383-7CAF-14D4-416C-AD7C37EB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089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12F7-3EE9-EBAB-FC77-E9393B12C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88F65-1E9A-2423-609C-DDF93210B0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E4B13-A9A7-A7AC-339B-C2300F01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E3FC6-0EE6-FD1B-B9E7-C9F77EFCB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0D109-7A97-D1D2-BE63-E45B7EA15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6106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E1395-88E1-C995-0C83-900411A1B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5B52-7404-3BB2-ACF7-AF2BB23E01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F22041-BFA1-FA58-38DB-0436DF0D8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AFFD-F48D-0261-EE76-3BCD4212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6B278-D0C7-3E69-AB0E-12BB6C5C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C87B39-4181-3E8D-A0C7-2A7C4722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40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B2970-3C08-A90A-B036-0F7FC1F0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17161-9F24-B1FD-D0F1-5A1058538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7049F-3A52-47A3-9C78-9C7C80EAC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D2E942-E0AA-1AE0-804F-39C5890937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9B95C-8D70-37A4-9F65-5460829DD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C43850-E46F-54F8-7ABE-FBD56D93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A550C1-2E9E-8F9B-D3D0-8E1976D8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FE065F-942C-30DD-6A7B-3CA61881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601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14C5-0BC8-6B6E-7D6D-069AEFC2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4BEEC-9C1F-1F2E-10FF-0FE609299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B85A5D-494C-D099-7349-11B42C3F8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B1CEA-D60B-4735-9742-7E02D58F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11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EC4816-0895-8679-FFCA-89AFCBA1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74269-7A64-1776-1612-79EEAB9DC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459D5-017D-AADF-0597-534371F9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0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74A7E-AE69-23F1-AE54-583DFBB50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33BA-1E78-1AEE-B1CE-6FD2B4F0F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D1CAD-6996-7FAD-C34A-9256D0B59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2ED115-6F34-FB6C-E855-6AFA63DD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818A6-E1A0-A42B-AF72-D086166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372D3-F544-089E-C367-0D2B8F931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1551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799FD-D291-E802-5521-164F387B4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DCFFE9-41D3-73DC-EF12-69A8038E8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9F95E-794E-21A0-4EE9-EFA3F389A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3C418-9410-C338-6AED-8073B11D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137D80-EB12-41C8-56AE-D2D037E48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767F1-5D12-B3D1-FFCC-871E2C99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626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21FA-A295-7441-965D-815B5959F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9346F-580C-D16C-733B-047D377C3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FC56-B82F-12D3-EAAC-B01B24D7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7112C-2E74-A072-B71E-38D2B6D3D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CAB8-C7E8-00CB-931A-1483AC26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02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70CD18-8838-4D49-2392-409B166528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D1E69F-474B-CA36-AD84-6B5C6CD9D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48EC3-5C2E-E68A-1327-9A00EFF7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DCFBC-CEB6-E9D0-39A6-DE79FC823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71ED92-08D0-7582-1394-59B81A8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1473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31353-DB0F-8F44-E40E-7F16B2A6B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11C7C1-13D1-5B81-CF08-B3A488F6E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94C1-D874-4073-0763-2A7C9E128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D7F05-9E8C-4E8E-A118-09913917E885}" type="datetimeFigureOut">
              <a:rPr lang="zh-CN" altLang="en-US" smtClean="0"/>
              <a:t>2026/2/15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03744-037F-6736-5DE7-1067C8E39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CACA5-9EA1-1ACA-C9DB-3E6BCA5A1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75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/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3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p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zh-CN" sz="3600" b="1" i="0" smtClean="0">
                        <a:latin typeface="Cambria Math" panose="02040503050406030204" pitchFamily="18" charset="0"/>
                      </a:rPr>
                      <m:t>𝐏𝐂</m:t>
                    </m:r>
                  </m:oMath>
                </a14:m>
                <a:r>
                  <a:rPr lang="en-US" altLang="zh-CN" sz="3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altLang="zh-CN" sz="3600" b="1" dirty="0"/>
                  <a:t>Multimodal Model Predictive Control</a:t>
                </a:r>
                <a:endParaRPr lang="zh-CN" altLang="en-US" sz="36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blipFill>
                <a:blip r:embed="rId2"/>
                <a:stretch>
                  <a:fillRect t="-11009" b="-339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/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>
                    <a:solidFill>
                      <a:schemeClr val="bg1">
                        <a:lumMod val="65000"/>
                      </a:schemeClr>
                    </a:solidFill>
                  </a:rPr>
                  <a:t>Modelling and Identification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altLang="zh-CN" sz="2400" b="0" i="0" smtClean="0">
                        <a:latin typeface="Cambria Math" panose="02040503050406030204" pitchFamily="18" charset="0"/>
                      </a:rPr>
                      <m:t>PC</m:t>
                    </m:r>
                  </m:oMath>
                </a14:m>
                <a:endParaRPr lang="en-US" altLang="zh-CN" sz="2400" dirty="0"/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Background of sampling MPC</a:t>
                </a:r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Design choice of M2PC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Simulation Results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Next Step</a:t>
                </a:r>
              </a:p>
            </p:txBody>
          </p:sp>
        </mc:Choice>
        <mc:Fallback xmlns="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blipFill>
                <a:blip r:embed="rId3"/>
                <a:stretch>
                  <a:fillRect l="-182" b="-2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51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C0A2A2D-FE8E-BD25-EFB3-0845FF3D316F}"/>
              </a:ext>
            </a:extLst>
          </p:cNvPr>
          <p:cNvSpPr txBox="1"/>
          <p:nvPr/>
        </p:nvSpPr>
        <p:spPr>
          <a:xfrm>
            <a:off x="611313" y="1099335"/>
            <a:ext cx="2640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/>
              <a:t>Traditional MPC</a:t>
            </a:r>
            <a:endParaRPr lang="zh-CN" alt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27F47-6079-E627-7233-A68669ACB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707" y="1899554"/>
            <a:ext cx="4637496" cy="901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FFFC3A-B6C9-93C3-FC05-F982DB2BFBDA}"/>
              </a:ext>
            </a:extLst>
          </p:cNvPr>
          <p:cNvSpPr txBox="1"/>
          <p:nvPr/>
        </p:nvSpPr>
        <p:spPr>
          <a:xfrm>
            <a:off x="611313" y="3059465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5B727-CEEE-0CDD-2B12-F420BAB50D5B}"/>
              </a:ext>
            </a:extLst>
          </p:cNvPr>
          <p:cNvSpPr txBox="1"/>
          <p:nvPr/>
        </p:nvSpPr>
        <p:spPr>
          <a:xfrm>
            <a:off x="6337147" y="1828448"/>
            <a:ext cx="5367175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- Solver: Iterative Gradient-Based Optimization</a:t>
            </a:r>
          </a:p>
          <a:p>
            <a:endParaRPr lang="en-US" altLang="zh-CN" sz="2000" dirty="0"/>
          </a:p>
          <a:p>
            <a:r>
              <a:rPr lang="en-US" altLang="zh-CN" sz="2000" dirty="0"/>
              <a:t>- Return a </a:t>
            </a:r>
            <a:r>
              <a:rPr lang="en-US" altLang="zh-CN" sz="2000" b="1" dirty="0"/>
              <a:t>deterministic</a:t>
            </a:r>
            <a:r>
              <a:rPr lang="en-US" altLang="zh-CN" sz="2000" dirty="0"/>
              <a:t> optimal action</a:t>
            </a:r>
          </a:p>
          <a:p>
            <a:r>
              <a:rPr lang="en-US" altLang="zh-CN" dirty="0"/>
              <a:t>	</a:t>
            </a:r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F6D8F-C85E-6AFD-1DDD-DCE296B9D3E7}"/>
              </a:ext>
            </a:extLst>
          </p:cNvPr>
          <p:cNvSpPr txBox="1"/>
          <p:nvPr/>
        </p:nvSpPr>
        <p:spPr>
          <a:xfrm>
            <a:off x="9825474" y="548814"/>
            <a:ext cx="18245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• Interior-Point</a:t>
            </a:r>
          </a:p>
          <a:p>
            <a:r>
              <a:rPr lang="en-US" altLang="zh-CN" dirty="0"/>
              <a:t>• SQP</a:t>
            </a:r>
          </a:p>
          <a:p>
            <a:r>
              <a:rPr lang="en-US" altLang="zh-CN" dirty="0"/>
              <a:t>• Gauss-Newton</a:t>
            </a:r>
          </a:p>
          <a:p>
            <a:r>
              <a:rPr lang="en-US" altLang="zh-CN" dirty="0"/>
              <a:t>•  … 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1EA846-B873-EDD0-983E-E39D63AEF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42" y="4043209"/>
            <a:ext cx="2162665" cy="21502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A46851F-C909-A51D-AD15-76D2581480EE}"/>
              </a:ext>
            </a:extLst>
          </p:cNvPr>
          <p:cNvSpPr/>
          <p:nvPr/>
        </p:nvSpPr>
        <p:spPr>
          <a:xfrm>
            <a:off x="4115589" y="4825876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2E0DCC-612D-4D51-4449-40BF9B33C6CA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EF7A3A-2476-E8E9-76BB-2C5A1FBD16BB}"/>
              </a:ext>
            </a:extLst>
          </p:cNvPr>
          <p:cNvSpPr txBox="1"/>
          <p:nvPr/>
        </p:nvSpPr>
        <p:spPr>
          <a:xfrm>
            <a:off x="4095455" y="4195023"/>
            <a:ext cx="609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/>
              <a:t>- Solver: Sampling</a:t>
            </a:r>
          </a:p>
        </p:txBody>
      </p:sp>
    </p:spTree>
    <p:extLst>
      <p:ext uri="{BB962C8B-B14F-4D97-AF65-F5344CB8AC3E}">
        <p14:creationId xmlns:p14="http://schemas.microsoft.com/office/powerpoint/2010/main" val="414506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3629-B6C3-963D-273B-96CE6D4D7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87CA466-4879-07AE-0D1E-0DE2D5E914B0}"/>
              </a:ext>
            </a:extLst>
          </p:cNvPr>
          <p:cNvSpPr txBox="1"/>
          <p:nvPr/>
        </p:nvSpPr>
        <p:spPr>
          <a:xfrm>
            <a:off x="621587" y="1113931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E61369-533D-18CE-8C0F-B5405626F4AC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64C202-534F-4205-F87B-ECE4F58A2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87" y="1819884"/>
            <a:ext cx="6457308" cy="18308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/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x_t+1</a:t>
                </a:r>
                <a:r>
                  <a:rPr lang="en-US" altLang="zh-CN" dirty="0"/>
                  <a:t> = f(</a:t>
                </a:r>
                <a:r>
                  <a:rPr lang="en-US" altLang="zh-CN" b="1" dirty="0" err="1"/>
                  <a:t>x_t</a:t>
                </a:r>
                <a:r>
                  <a:rPr lang="en-US" altLang="zh-CN" dirty="0"/>
                  <a:t>, </a:t>
                </a:r>
                <a:r>
                  <a:rPr lang="en-US" altLang="zh-CN" b="1" dirty="0" err="1"/>
                  <a:t>u_t</a:t>
                </a:r>
                <a:r>
                  <a:rPr lang="en-US" altLang="zh-CN" dirty="0"/>
                  <a:t>)  </a:t>
                </a:r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</a:t>
                </a:r>
                <a:r>
                  <a:rPr lang="en-US" altLang="zh-CN" dirty="0"/>
                  <a:t> typically sampled from</a:t>
                </a:r>
                <a14:m>
                  <m:oMath xmlns:m="http://schemas.openxmlformats.org/officeDocument/2006/math"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CN" alt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 err="1"/>
                  <a:t>O_t</a:t>
                </a:r>
                <a:r>
                  <a:rPr lang="en-US" altLang="zh-CN" dirty="0"/>
                  <a:t> is a </a:t>
                </a:r>
                <a:r>
                  <a:rPr lang="en-US" altLang="zh-CN" b="1" dirty="0"/>
                  <a:t>virtual binary </a:t>
                </a:r>
                <a:r>
                  <a:rPr lang="en-US" altLang="zh-CN" dirty="0"/>
                  <a:t>variable: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blipFill>
                <a:blip r:embed="rId3"/>
                <a:stretch>
                  <a:fillRect l="-1101" t="-24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0C8C172-8826-EDC8-ACFF-1DF419A6A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660" y="2796949"/>
            <a:ext cx="3520739" cy="8133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1DD3CB-A446-ABEB-3CE6-8E2F7EB7D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4990" y="3387296"/>
            <a:ext cx="1780991" cy="264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053A05-E0FA-4CEF-0F0B-D4C96F46DD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7845" y="3849536"/>
            <a:ext cx="6867980" cy="74790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22ADF4C-4232-F072-F5B9-85CE3A4303E2}"/>
              </a:ext>
            </a:extLst>
          </p:cNvPr>
          <p:cNvCxnSpPr/>
          <p:nvPr/>
        </p:nvCxnSpPr>
        <p:spPr>
          <a:xfrm>
            <a:off x="6535282" y="4639622"/>
            <a:ext cx="224490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C100B86A-EF3D-DCDD-6B30-7122D04C8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248" y="4681802"/>
            <a:ext cx="3364781" cy="12976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0BC89B9-562F-7689-88D2-5015DCB112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5396" y="1920263"/>
            <a:ext cx="380952" cy="2857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3D75387-67A8-9CFA-AFE4-184D65C8AE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4698" y="2202906"/>
            <a:ext cx="380952" cy="2857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0CC65CA-BE9F-E1E2-5E82-CE6849E2D1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4222" y="3000297"/>
            <a:ext cx="380952" cy="2857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20213A4-6DCC-03C0-CBF9-703DE30589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5524" y="4597443"/>
            <a:ext cx="8780952" cy="14666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B75E93D-CA9A-C6E2-70B7-56E5F08724C9}"/>
              </a:ext>
            </a:extLst>
          </p:cNvPr>
          <p:cNvSpPr/>
          <p:nvPr/>
        </p:nvSpPr>
        <p:spPr>
          <a:xfrm>
            <a:off x="3882237" y="407978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01824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36A6AE-A829-6E7A-8AC7-13C3F50B72DA}"/>
              </a:ext>
            </a:extLst>
          </p:cNvPr>
          <p:cNvGrpSpPr/>
          <p:nvPr/>
        </p:nvGrpSpPr>
        <p:grpSpPr>
          <a:xfrm>
            <a:off x="1082215" y="4753081"/>
            <a:ext cx="7000350" cy="1587107"/>
            <a:chOff x="1082215" y="4753081"/>
            <a:chExt cx="7000350" cy="158710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4B65C23-4547-A142-73F6-D655D93BE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2215" y="4753081"/>
              <a:ext cx="6400342" cy="158710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439FA02-5D7E-DFF6-582B-B3EFF594F996}"/>
                </a:ext>
              </a:extLst>
            </p:cNvPr>
            <p:cNvSpPr txBox="1"/>
            <p:nvPr/>
          </p:nvSpPr>
          <p:spPr>
            <a:xfrm>
              <a:off x="7556459" y="5206495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032D9468-09B8-1CD6-A445-401E214A23DA}"/>
              </a:ext>
            </a:extLst>
          </p:cNvPr>
          <p:cNvSpPr/>
          <p:nvPr/>
        </p:nvSpPr>
        <p:spPr>
          <a:xfrm>
            <a:off x="1693855" y="5668160"/>
            <a:ext cx="1567505" cy="344515"/>
          </a:xfrm>
          <a:prstGeom prst="rect">
            <a:avLst/>
          </a:prstGeom>
          <a:solidFill>
            <a:schemeClr val="bg1">
              <a:alpha val="0"/>
            </a:scheme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1DBE5-036F-C072-F3C1-06690D3623C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7A2AA-A112-EDFE-8944-CC334E372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083" y="332911"/>
            <a:ext cx="4243519" cy="7087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/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1. Find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b="1" dirty="0"/>
                  <a:t>good</a:t>
                </a:r>
                <a:r>
                  <a:rPr lang="en-US" altLang="zh-CN" dirty="0"/>
                  <a:t> and sufficiently </a:t>
                </a:r>
                <a:r>
                  <a:rPr lang="en-US" altLang="zh-CN" b="1" dirty="0"/>
                  <a:t>diverse</a:t>
                </a:r>
                <a:r>
                  <a:rPr lang="en-US" altLang="zh-CN" dirty="0"/>
                  <a:t> actions (modeling)</a:t>
                </a:r>
                <a:endParaRPr lang="zh-CN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blipFill>
                <a:blip r:embed="rId4"/>
                <a:stretch>
                  <a:fillRect l="-688" t="-8197" r="-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22433EB-C3A0-9E13-6F9A-5F01AE553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798" y="1826029"/>
            <a:ext cx="3798731" cy="69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7FC94A-BFEB-8EA8-63E7-BCBAC4BAE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241" y="1851309"/>
            <a:ext cx="4733361" cy="616509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38691E4-DA35-3095-9362-B28B590F1D00}"/>
              </a:ext>
            </a:extLst>
          </p:cNvPr>
          <p:cNvSpPr/>
          <p:nvPr/>
        </p:nvSpPr>
        <p:spPr>
          <a:xfrm>
            <a:off x="659598" y="3059668"/>
            <a:ext cx="1174399" cy="369332"/>
          </a:xfrm>
          <a:prstGeom prst="rightArrow">
            <a:avLst>
              <a:gd name="adj1" fmla="val 26421"/>
              <a:gd name="adj2" fmla="val 50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C56034-3FD3-0745-9ED5-9E63ACBF69A2}"/>
              </a:ext>
            </a:extLst>
          </p:cNvPr>
          <p:cNvSpPr txBox="1"/>
          <p:nvPr/>
        </p:nvSpPr>
        <p:spPr>
          <a:xfrm>
            <a:off x="659598" y="283572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Simplify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/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blipFill>
                <a:blip r:embed="rId7"/>
                <a:stretch>
                  <a:fillRect l="-686" t="-10000" r="-196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90E4D48B-0BCB-C146-BBBA-727CF33D07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60" t="3011"/>
          <a:stretch>
            <a:fillRect/>
          </a:stretch>
        </p:blipFill>
        <p:spPr>
          <a:xfrm>
            <a:off x="8202385" y="4256314"/>
            <a:ext cx="3854667" cy="25497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0F1EE1-639B-72EE-8377-7D36D7DF27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244" y="4539053"/>
            <a:ext cx="1744850" cy="621129"/>
          </a:xfrm>
          <a:prstGeom prst="rect">
            <a:avLst/>
          </a:prstGeom>
          <a:ln w="34925">
            <a:solidFill>
              <a:schemeClr val="accent2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356FDE3-C8EB-B259-50A4-E098863B4341}"/>
              </a:ext>
            </a:extLst>
          </p:cNvPr>
          <p:cNvGrpSpPr/>
          <p:nvPr/>
        </p:nvGrpSpPr>
        <p:grpSpPr>
          <a:xfrm>
            <a:off x="2260180" y="2750247"/>
            <a:ext cx="9272222" cy="823645"/>
            <a:chOff x="2260180" y="2750247"/>
            <a:chExt cx="9272222" cy="82364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D3AB9B-C1D4-0637-0E63-A081219BF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260180" y="2750247"/>
              <a:ext cx="8527563" cy="82364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6EA7E1F-4159-BD01-09EC-9E008A7BCFB9}"/>
                </a:ext>
              </a:extLst>
            </p:cNvPr>
            <p:cNvSpPr txBox="1"/>
            <p:nvPr/>
          </p:nvSpPr>
          <p:spPr>
            <a:xfrm>
              <a:off x="11006296" y="2900400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(1)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99028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6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1922-E940-00C8-5DC0-815F5F775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37A9B7-7F6E-03CC-F2F6-B49D12CE04B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/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blipFill>
                <a:blip r:embed="rId2"/>
                <a:stretch>
                  <a:fillRect l="-588" t="-10000" r="-294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B2AE724-ADD0-555B-D0CD-859A81CBCDDF}"/>
              </a:ext>
            </a:extLst>
          </p:cNvPr>
          <p:cNvSpPr txBox="1"/>
          <p:nvPr/>
        </p:nvSpPr>
        <p:spPr>
          <a:xfrm>
            <a:off x="330763" y="2509939"/>
            <a:ext cx="502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3. Greedy method (choose action one by one)</a:t>
            </a:r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C5DAB-CE7B-EA7B-F41C-D1FAFCF34313}"/>
              </a:ext>
            </a:extLst>
          </p:cNvPr>
          <p:cNvSpPr txBox="1"/>
          <p:nvPr/>
        </p:nvSpPr>
        <p:spPr>
          <a:xfrm>
            <a:off x="930729" y="3043223"/>
            <a:ext cx="3044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Choose first action to the set:</a:t>
            </a:r>
            <a:endParaRPr lang="zh-CN" alt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96F177-7A95-99E5-0757-58B2BBD4F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964" y="3495705"/>
            <a:ext cx="7074405" cy="7964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A75996-2A7E-D76B-E3B8-CE53814BA5D8}"/>
              </a:ext>
            </a:extLst>
          </p:cNvPr>
          <p:cNvSpPr txBox="1"/>
          <p:nvPr/>
        </p:nvSpPr>
        <p:spPr>
          <a:xfrm>
            <a:off x="930729" y="4487234"/>
            <a:ext cx="2385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For k = 2, …, n iterate:</a:t>
            </a:r>
            <a:endParaRPr lang="zh-CN" alt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C3F4B7-50FD-0EB1-93AB-6416B9703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964" y="4858970"/>
            <a:ext cx="7171917" cy="848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52F0C1-9E5F-DC70-6335-341285257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095" y="5024146"/>
            <a:ext cx="1895843" cy="517740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BF4C71DC-A0B3-9681-2069-D50CC77C395B}"/>
              </a:ext>
            </a:extLst>
          </p:cNvPr>
          <p:cNvSpPr/>
          <p:nvPr/>
        </p:nvSpPr>
        <p:spPr>
          <a:xfrm rot="5400000">
            <a:off x="6671319" y="-1163661"/>
            <a:ext cx="302520" cy="7074405"/>
          </a:xfrm>
          <a:prstGeom prst="rightBrace">
            <a:avLst>
              <a:gd name="adj1" fmla="val 72204"/>
              <a:gd name="adj2" fmla="val 50616"/>
            </a:avLst>
          </a:prstGeom>
          <a:ln w="15875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B6D035-978E-5E83-8EEF-9677777F9318}"/>
              </a:ext>
            </a:extLst>
          </p:cNvPr>
          <p:cNvSpPr txBox="1"/>
          <p:nvPr/>
        </p:nvSpPr>
        <p:spPr>
          <a:xfrm>
            <a:off x="6342685" y="255956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70C0"/>
                </a:solidFill>
              </a:rPr>
              <a:t>Obj(S)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840D0D-C18D-A5B9-1186-B887E445D16C}"/>
              </a:ext>
            </a:extLst>
          </p:cNvPr>
          <p:cNvSpPr/>
          <p:nvPr/>
        </p:nvSpPr>
        <p:spPr>
          <a:xfrm>
            <a:off x="133945" y="5740245"/>
            <a:ext cx="180218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  <a:effectLst/>
              </a:rPr>
              <a:t>Free !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58AD91-180D-889B-6D89-A98E5789061C}"/>
              </a:ext>
            </a:extLst>
          </p:cNvPr>
          <p:cNvGrpSpPr/>
          <p:nvPr/>
        </p:nvGrpSpPr>
        <p:grpSpPr>
          <a:xfrm>
            <a:off x="1832218" y="1574983"/>
            <a:ext cx="9530578" cy="771004"/>
            <a:chOff x="1832218" y="1574983"/>
            <a:chExt cx="9530578" cy="77100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BA8E9C4-C1D3-986C-A0FA-3AD68407D6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2218" y="1574983"/>
              <a:ext cx="8527563" cy="77100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313C5B-1586-1EEC-8670-DD60ABDB27F7}"/>
                </a:ext>
              </a:extLst>
            </p:cNvPr>
            <p:cNvSpPr txBox="1"/>
            <p:nvPr/>
          </p:nvSpPr>
          <p:spPr>
            <a:xfrm>
              <a:off x="10836690" y="1729652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07222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11" grpId="0"/>
      <p:bldP spid="18" grpId="0" animBg="1"/>
      <p:bldP spid="1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D58C93-BDE6-63C5-556E-7459F1FA9407}"/>
              </a:ext>
            </a:extLst>
          </p:cNvPr>
          <p:cNvSpPr txBox="1"/>
          <p:nvPr/>
        </p:nvSpPr>
        <p:spPr>
          <a:xfrm>
            <a:off x="341641" y="284868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A9E7E0-F7D3-2C93-898E-6970AB2B064F}"/>
              </a:ext>
            </a:extLst>
          </p:cNvPr>
          <p:cNvCxnSpPr>
            <a:cxnSpLocks/>
          </p:cNvCxnSpPr>
          <p:nvPr/>
        </p:nvCxnSpPr>
        <p:spPr>
          <a:xfrm>
            <a:off x="5635374" y="2630184"/>
            <a:ext cx="0" cy="39012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0F88DF-E4CB-59C6-C92C-1330ABC358C8}"/>
              </a:ext>
            </a:extLst>
          </p:cNvPr>
          <p:cNvSpPr txBox="1"/>
          <p:nvPr/>
        </p:nvSpPr>
        <p:spPr>
          <a:xfrm>
            <a:off x="552261" y="1191802"/>
            <a:ext cx="1051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Trajectory Tracking Task: control the top of the rope such that its bottom follows a desired trajectory. 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10A37-4D78-147D-EFC5-7F76A06F036A}"/>
              </a:ext>
            </a:extLst>
          </p:cNvPr>
          <p:cNvSpPr txBox="1"/>
          <p:nvPr/>
        </p:nvSpPr>
        <p:spPr>
          <a:xfrm>
            <a:off x="552260" y="1832225"/>
            <a:ext cx="4020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Comparison with previous Method</a:t>
            </a:r>
            <a:endParaRPr lang="zh-CN" alt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FA98C-0962-544E-8603-B2850022FD48}"/>
              </a:ext>
            </a:extLst>
          </p:cNvPr>
          <p:cNvSpPr/>
          <p:nvPr/>
        </p:nvSpPr>
        <p:spPr>
          <a:xfrm>
            <a:off x="2065592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SPiD</a:t>
            </a:r>
            <a:endParaRPr lang="en-US" altLang="zh-CN" sz="2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C20717-CEE3-488A-EDE5-DCD918FF1640}"/>
              </a:ext>
            </a:extLst>
          </p:cNvPr>
          <p:cNvSpPr/>
          <p:nvPr/>
        </p:nvSpPr>
        <p:spPr>
          <a:xfrm>
            <a:off x="8146181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M2PC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D666DD-B14E-EA2A-218D-9B00B8780577}"/>
              </a:ext>
            </a:extLst>
          </p:cNvPr>
          <p:cNvSpPr txBox="1"/>
          <p:nvPr/>
        </p:nvSpPr>
        <p:spPr>
          <a:xfrm>
            <a:off x="1114242" y="2915317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Initial state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Fast online calculation (MLP)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30cm rope for test                                                              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080681-5B07-3C92-8D24-9E893C7C2767}"/>
              </a:ext>
            </a:extLst>
          </p:cNvPr>
          <p:cNvSpPr txBox="1"/>
          <p:nvPr/>
        </p:nvSpPr>
        <p:spPr>
          <a:xfrm>
            <a:off x="6769370" y="2915316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data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great GPU for rollout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100cm rope for test                                                               </a:t>
            </a:r>
            <a:endParaRPr lang="zh-CN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827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700450-7253-172C-F5D9-5B3737D795B2}"/>
              </a:ext>
            </a:extLst>
          </p:cNvPr>
          <p:cNvSpPr txBox="1"/>
          <p:nvPr/>
        </p:nvSpPr>
        <p:spPr>
          <a:xfrm>
            <a:off x="507336" y="2766545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FA422-0A98-65C1-740D-52B307EBFF19}"/>
              </a:ext>
            </a:extLst>
          </p:cNvPr>
          <p:cNvSpPr txBox="1"/>
          <p:nvPr/>
        </p:nvSpPr>
        <p:spPr>
          <a:xfrm>
            <a:off x="1912528" y="3404880"/>
            <a:ext cx="5569153" cy="2469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Multimodal behavior test (Collision avoidance)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Robustness to external force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Adaptive to different ropes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Real experiments for all above </a:t>
            </a:r>
            <a:endParaRPr lang="zh-CN" alt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11878-4C0F-3A18-32F8-6A48D69ED5BA}"/>
              </a:ext>
            </a:extLst>
          </p:cNvPr>
          <p:cNvSpPr txBox="1"/>
          <p:nvPr/>
        </p:nvSpPr>
        <p:spPr>
          <a:xfrm>
            <a:off x="507336" y="260653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53776-33BC-4FC2-8823-9CC1C8D86D07}"/>
              </a:ext>
            </a:extLst>
          </p:cNvPr>
          <p:cNvSpPr txBox="1"/>
          <p:nvPr/>
        </p:nvSpPr>
        <p:spPr>
          <a:xfrm>
            <a:off x="696727" y="1144267"/>
            <a:ext cx="114289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M2PC provides a </a:t>
            </a:r>
            <a:r>
              <a:rPr lang="en-US" altLang="zh-CN" sz="2000" b="1" dirty="0">
                <a:solidFill>
                  <a:srgbClr val="FF0000"/>
                </a:solidFill>
              </a:rPr>
              <a:t>multimodal</a:t>
            </a:r>
            <a:r>
              <a:rPr lang="en-US" altLang="zh-CN" sz="2000" dirty="0"/>
              <a:t> inference framework for </a:t>
            </a:r>
            <a:r>
              <a:rPr lang="en-US" altLang="zh-CN" sz="2000" dirty="0">
                <a:solidFill>
                  <a:srgbClr val="00B0F0"/>
                </a:solidFill>
              </a:rPr>
              <a:t>high-dimensional</a:t>
            </a:r>
            <a:r>
              <a:rPr lang="en-US" altLang="zh-CN" sz="2000" dirty="0"/>
              <a:t> and </a:t>
            </a:r>
            <a:r>
              <a:rPr lang="en-US" altLang="zh-CN" sz="2000" dirty="0">
                <a:solidFill>
                  <a:srgbClr val="00B0F0"/>
                </a:solidFill>
              </a:rPr>
              <a:t>highly nonlinear </a:t>
            </a:r>
            <a:r>
              <a:rPr lang="en-US" altLang="zh-CN" sz="2000" dirty="0"/>
              <a:t>systems.</a:t>
            </a:r>
            <a:br>
              <a:rPr lang="en-US" altLang="zh-CN" sz="2000" dirty="0"/>
            </a:br>
            <a:r>
              <a:rPr lang="en-US" altLang="zh-CN" sz="2000" dirty="0"/>
              <a:t>In the rope trajectory tracking task, it achieves </a:t>
            </a:r>
            <a:r>
              <a:rPr lang="en-US" altLang="zh-CN" sz="2000" dirty="0">
                <a:solidFill>
                  <a:srgbClr val="00B0F0"/>
                </a:solidFill>
              </a:rPr>
              <a:t>high-quality control performance </a:t>
            </a:r>
            <a:r>
              <a:rPr lang="en-US" altLang="zh-CN" sz="2000" dirty="0"/>
              <a:t>for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arbitrary reference trajectories</a:t>
            </a:r>
            <a:r>
              <a:rPr lang="en-US" altLang="zh-CN" sz="2000" dirty="0"/>
              <a:t> and </a:t>
            </a:r>
            <a:r>
              <a:rPr lang="en-US" altLang="zh-CN" sz="2000" b="1" dirty="0">
                <a:solidFill>
                  <a:srgbClr val="FF0000"/>
                </a:solidFill>
              </a:rPr>
              <a:t>reasonable time durations</a:t>
            </a:r>
            <a:r>
              <a:rPr lang="en-US" altLang="zh-CN" sz="2000" dirty="0"/>
              <a:t>,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without requiring any training </a:t>
            </a:r>
            <a:r>
              <a:rPr lang="en-US" altLang="zh-CN" sz="2000" dirty="0"/>
              <a:t>or </a:t>
            </a:r>
            <a:r>
              <a:rPr lang="en-US" altLang="zh-CN" sz="2000" b="1" dirty="0">
                <a:solidFill>
                  <a:srgbClr val="FF0000"/>
                </a:solidFill>
              </a:rPr>
              <a:t>expert demonstration data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66114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0D2226-316D-4358-9FB9-DCEA5D1C51A2}"/>
              </a:ext>
            </a:extLst>
          </p:cNvPr>
          <p:cNvSpPr txBox="1"/>
          <p:nvPr/>
        </p:nvSpPr>
        <p:spPr>
          <a:xfrm>
            <a:off x="2455108" y="2921168"/>
            <a:ext cx="7281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60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Thanks!</a:t>
            </a:r>
            <a:endParaRPr lang="zh-CN" altLang="en-US" sz="6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101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1596</TotalTime>
  <Words>327</Words>
  <Application>Microsoft Office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Arial</vt:lpstr>
      <vt:lpstr>Calibri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Youyuan Long</dc:creator>
  <cp:lastModifiedBy>Youyuan Long</cp:lastModifiedBy>
  <cp:revision>3</cp:revision>
  <dcterms:created xsi:type="dcterms:W3CDTF">2026-02-14T16:52:16Z</dcterms:created>
  <dcterms:modified xsi:type="dcterms:W3CDTF">2026-02-15T22:08:38Z</dcterms:modified>
</cp:coreProperties>
</file>