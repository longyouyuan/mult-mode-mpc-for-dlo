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70" r:id="rId6"/>
    <p:sldId id="259" r:id="rId7"/>
    <p:sldId id="260" r:id="rId8"/>
    <p:sldId id="271" r:id="rId9"/>
    <p:sldId id="273" r:id="rId10"/>
    <p:sldId id="274" r:id="rId11"/>
    <p:sldId id="282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7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E7B9-0C9C-11C7-F1D5-C0C1B872D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08B4D-EDBA-9972-FA73-9E562CFF2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A49AB-4FF7-3D78-7D69-637D6600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1465-71C3-7CDF-0352-7AEA863D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84516-5103-C737-57B1-3B1B5A44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66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87F4-150D-C64D-6C71-F8C55387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BE37-C696-CF59-7B35-CAC01E96C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4906E-62DB-8119-C384-88253C0F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4F4C6-0795-7236-DA5A-0C181B9C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BA383-7CAF-14D4-416C-AD7C37EB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089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12F7-3EE9-EBAB-FC77-E9393B12C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88F65-1E9A-2423-609C-DDF93210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E4B13-A9A7-A7AC-339B-C2300F01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3FC6-0EE6-FD1B-B9E7-C9F77EFC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0D109-7A97-D1D2-BE63-E45B7EA1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10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1395-88E1-C995-0C83-900411A1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5B52-7404-3BB2-ACF7-AF2BB23E0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22041-BFA1-FA58-38DB-0436DF0D8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AFFD-F48D-0261-EE76-3BCD4212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6B278-D0C7-3E69-AB0E-12BB6C5C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87B39-4181-3E8D-A0C7-2A7C4722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4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2970-3C08-A90A-B036-0F7FC1F0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7161-9F24-B1FD-D0F1-5A1058538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7049F-3A52-47A3-9C78-9C7C80EAC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D2E942-E0AA-1AE0-804F-39C589093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9B95C-8D70-37A4-9F65-5460829DD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C43850-E46F-54F8-7ABE-FBD56D93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550C1-2E9E-8F9B-D3D0-8E1976D8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E065F-942C-30DD-6A7B-3CA61881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60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14C5-0BC8-6B6E-7D6D-069AEFC2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4BEEC-9C1F-1F2E-10FF-0FE60929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85A5D-494C-D099-7349-11B42C3F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B1CEA-D60B-4735-9742-7E02D58F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11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C4816-0895-8679-FFCA-89AFCBA1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74269-7A64-1776-1612-79EEAB9D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59D5-017D-AADF-0597-534371F9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49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4A7E-AE69-23F1-AE54-583DFBB5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33BA-1E78-1AEE-B1CE-6FD2B4F0F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D1CAD-6996-7FAD-C34A-9256D0B59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ED115-6F34-FB6C-E855-6AFA63DD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818A6-E1A0-A42B-AF72-D086166E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372D3-F544-089E-C367-0D2B8F93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55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99FD-D291-E802-5521-164F387B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DCFFE9-41D3-73DC-EF12-69A8038E8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9F95E-794E-21A0-4EE9-EFA3F389A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3C418-9410-C338-6AED-8073B11D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37D80-EB12-41C8-56AE-D2D037E4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767F1-5D12-B3D1-FFCC-871E2C99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62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21FA-A295-7441-965D-815B5959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9346F-580C-D16C-733B-047D377C3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AFC56-B82F-12D3-EAAC-B01B24D7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7112C-2E74-A072-B71E-38D2B6D3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CAB8-C7E8-00CB-931A-1483AC26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2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0CD18-8838-4D49-2392-409B16652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1E69F-474B-CA36-AD84-6B5C6CD9D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48EC3-5C2E-E68A-1327-9A00EFF7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DCFBC-CEB6-E9D0-39A6-DE79FC82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1ED92-08D0-7582-1394-59B81A8D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47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31353-DB0F-8F44-E40E-7F16B2A6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1C7C1-13D1-5B81-CF08-B3A488F6E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94C1-D874-4073-0763-2A7C9E128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D7F05-9E8C-4E8E-A118-09913917E88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03744-037F-6736-5DE7-1067C8E39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CACA5-9EA1-1ACA-C9DB-3E6BCA5A1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02E11-437E-4D45-A0A9-1E5BBEEDC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75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8FFD39-256C-42D5-6931-2F24567CC6F4}"/>
                  </a:ext>
                </a:extLst>
              </p:cNvPr>
              <p:cNvSpPr txBox="1"/>
              <p:nvPr/>
            </p:nvSpPr>
            <p:spPr>
              <a:xfrm>
                <a:off x="1226241" y="1002363"/>
                <a:ext cx="9739517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altLang="zh-CN" sz="36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3600" b="1" i="0" smtClean="0">
                        <a:latin typeface="Cambria Math" panose="02040503050406030204" pitchFamily="18" charset="0"/>
                      </a:rPr>
                      <m:t>𝐏𝐂</m:t>
                    </m:r>
                  </m:oMath>
                </a14:m>
                <a:r>
                  <a:rPr lang="en-US" altLang="zh-CN" sz="3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altLang="zh-CN" sz="3600" b="1" dirty="0"/>
                  <a:t>Multimodal Model Predictive Control</a:t>
                </a:r>
                <a:endParaRPr lang="zh-CN" altLang="en-US" sz="3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8FFD39-256C-42D5-6931-2F24567CC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241" y="1002363"/>
                <a:ext cx="9739517" cy="658898"/>
              </a:xfrm>
              <a:prstGeom prst="rect">
                <a:avLst/>
              </a:prstGeom>
              <a:blipFill>
                <a:blip r:embed="rId2"/>
                <a:stretch>
                  <a:fillRect t="-11009" b="-33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6">
                <a:extLst>
                  <a:ext uri="{FF2B5EF4-FFF2-40B4-BE49-F238E27FC236}">
                    <a16:creationId xmlns:a16="http://schemas.microsoft.com/office/drawing/2014/main" id="{EF3F7643-EED4-F612-EA68-0EA13BC4C547}"/>
                  </a:ext>
                </a:extLst>
              </p:cNvPr>
              <p:cNvSpPr txBox="1"/>
              <p:nvPr/>
            </p:nvSpPr>
            <p:spPr>
              <a:xfrm>
                <a:off x="1975918" y="1870404"/>
                <a:ext cx="6686282" cy="4052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200000"/>
                  </a:lnSpc>
                  <a:buSzPct val="60000"/>
                  <a:buFont typeface="Wingdings" panose="05000000000000000000" pitchFamily="2" charset="2"/>
                  <a:buChar char="l"/>
                </a:pPr>
                <a:r>
                  <a:rPr lang="en-US" altLang="zh-CN" sz="2400" dirty="0">
                    <a:solidFill>
                      <a:schemeClr val="bg1">
                        <a:lumMod val="65000"/>
                      </a:schemeClr>
                    </a:solidFill>
                  </a:rPr>
                  <a:t>Modelling and Identification</a:t>
                </a:r>
              </a:p>
              <a:p>
                <a:pPr marL="342900" indent="-342900">
                  <a:lnSpc>
                    <a:spcPct val="200000"/>
                  </a:lnSpc>
                  <a:buSzPct val="60000"/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PC</m:t>
                    </m:r>
                  </m:oMath>
                </a14:m>
                <a:endParaRPr lang="en-US" altLang="zh-CN" sz="2400" dirty="0"/>
              </a:p>
              <a:p>
                <a:pPr marL="800100" lvl="1" indent="-342900">
                  <a:lnSpc>
                    <a:spcPct val="150000"/>
                  </a:lnSpc>
                  <a:buSzPct val="60000"/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Background of sampling MPC</a:t>
                </a:r>
              </a:p>
              <a:p>
                <a:pPr marL="800100" lvl="1" indent="-342900">
                  <a:lnSpc>
                    <a:spcPct val="150000"/>
                  </a:lnSpc>
                  <a:buSzPct val="60000"/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Design choice of M2PC</a:t>
                </a:r>
              </a:p>
              <a:p>
                <a:pPr marL="342900" indent="-342900">
                  <a:lnSpc>
                    <a:spcPct val="200000"/>
                  </a:lnSpc>
                  <a:buSzPct val="60000"/>
                  <a:buFont typeface="Wingdings" panose="05000000000000000000" pitchFamily="2" charset="2"/>
                  <a:buChar char="l"/>
                </a:pPr>
                <a:r>
                  <a:rPr lang="en-US" altLang="zh-CN" sz="2400" dirty="0"/>
                  <a:t>Simulation Results</a:t>
                </a:r>
              </a:p>
              <a:p>
                <a:pPr marL="342900" indent="-342900">
                  <a:lnSpc>
                    <a:spcPct val="200000"/>
                  </a:lnSpc>
                  <a:buSzPct val="60000"/>
                  <a:buFont typeface="Wingdings" panose="05000000000000000000" pitchFamily="2" charset="2"/>
                  <a:buChar char="l"/>
                </a:pPr>
                <a:r>
                  <a:rPr lang="en-US" altLang="zh-CN" sz="2400" dirty="0"/>
                  <a:t>Next Step</a:t>
                </a:r>
              </a:p>
            </p:txBody>
          </p:sp>
        </mc:Choice>
        <mc:Fallback xmlns="">
          <p:sp>
            <p:nvSpPr>
              <p:cNvPr id="5" name="TextBox 6">
                <a:extLst>
                  <a:ext uri="{FF2B5EF4-FFF2-40B4-BE49-F238E27FC236}">
                    <a16:creationId xmlns:a16="http://schemas.microsoft.com/office/drawing/2014/main" id="{EF3F7643-EED4-F612-EA68-0EA13BC4C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918" y="1870404"/>
                <a:ext cx="6686282" cy="4052520"/>
              </a:xfrm>
              <a:prstGeom prst="rect">
                <a:avLst/>
              </a:prstGeom>
              <a:blipFill>
                <a:blip r:embed="rId3"/>
                <a:stretch>
                  <a:fillRect l="-182" b="-2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A2A2D-FE8E-BD25-EFB3-0845FF3D316F}"/>
              </a:ext>
            </a:extLst>
          </p:cNvPr>
          <p:cNvSpPr txBox="1"/>
          <p:nvPr/>
        </p:nvSpPr>
        <p:spPr>
          <a:xfrm>
            <a:off x="611313" y="1099335"/>
            <a:ext cx="2640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Traditional MPC</a:t>
            </a:r>
            <a:endParaRPr lang="zh-CN" alt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27F47-6079-E627-7233-A68669AC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707" y="1899554"/>
            <a:ext cx="4637496" cy="901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FFFC3A-B6C9-93C3-FC05-F982DB2BFBDA}"/>
              </a:ext>
            </a:extLst>
          </p:cNvPr>
          <p:cNvSpPr txBox="1"/>
          <p:nvPr/>
        </p:nvSpPr>
        <p:spPr>
          <a:xfrm>
            <a:off x="611313" y="3059465"/>
            <a:ext cx="4714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MPC via Probabilistic Inference</a:t>
            </a:r>
            <a:endParaRPr lang="zh-CN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5B727-CEEE-0CDD-2B12-F420BAB50D5B}"/>
              </a:ext>
            </a:extLst>
          </p:cNvPr>
          <p:cNvSpPr txBox="1"/>
          <p:nvPr/>
        </p:nvSpPr>
        <p:spPr>
          <a:xfrm>
            <a:off x="6337147" y="1828448"/>
            <a:ext cx="536717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- Solver: Iterative Gradient-Based Optimization</a:t>
            </a:r>
          </a:p>
          <a:p>
            <a:endParaRPr lang="en-US" altLang="zh-CN" sz="2000" dirty="0"/>
          </a:p>
          <a:p>
            <a:r>
              <a:rPr lang="en-US" altLang="zh-CN" sz="2000" dirty="0"/>
              <a:t>- Return a </a:t>
            </a:r>
            <a:r>
              <a:rPr lang="en-US" altLang="zh-CN" sz="2000" b="1" dirty="0"/>
              <a:t>deterministic</a:t>
            </a:r>
            <a:r>
              <a:rPr lang="en-US" altLang="zh-CN" sz="2000" dirty="0"/>
              <a:t> optimal action</a:t>
            </a:r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F6D8F-C85E-6AFD-1DDD-DCE296B9D3E7}"/>
              </a:ext>
            </a:extLst>
          </p:cNvPr>
          <p:cNvSpPr txBox="1"/>
          <p:nvPr/>
        </p:nvSpPr>
        <p:spPr>
          <a:xfrm>
            <a:off x="9825474" y="548814"/>
            <a:ext cx="18245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• Interior-Point</a:t>
            </a:r>
          </a:p>
          <a:p>
            <a:r>
              <a:rPr lang="en-US" altLang="zh-CN" dirty="0"/>
              <a:t>• SQP</a:t>
            </a:r>
          </a:p>
          <a:p>
            <a:r>
              <a:rPr lang="en-US" altLang="zh-CN" dirty="0"/>
              <a:t>• Gauss-Newton</a:t>
            </a:r>
          </a:p>
          <a:p>
            <a:r>
              <a:rPr lang="en-US" altLang="zh-CN" dirty="0"/>
              <a:t>•  … </a:t>
            </a:r>
            <a:endParaRPr lang="zh-CN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1EA846-B873-EDD0-983E-E39D63AE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2" y="4043209"/>
            <a:ext cx="2162665" cy="21502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A46851F-C909-A51D-AD15-76D2581480EE}"/>
              </a:ext>
            </a:extLst>
          </p:cNvPr>
          <p:cNvSpPr/>
          <p:nvPr/>
        </p:nvSpPr>
        <p:spPr>
          <a:xfrm>
            <a:off x="4115589" y="4825876"/>
            <a:ext cx="74382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-New Goal: </a:t>
            </a:r>
            <a:r>
              <a:rPr lang="en-US" altLang="zh-CN" sz="2400" dirty="0"/>
              <a:t>find the </a:t>
            </a:r>
            <a:r>
              <a:rPr lang="en-US" altLang="zh-CN" sz="2400" b="1" dirty="0"/>
              <a:t>distribution</a:t>
            </a:r>
            <a:r>
              <a:rPr lang="en-US" altLang="zh-CN" sz="2400" dirty="0"/>
              <a:t> of the optimal action!</a:t>
            </a:r>
            <a:endParaRPr lang="en-US" altLang="zh-CN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2E0DCC-612D-4D51-4449-40BF9B33C6CA}"/>
              </a:ext>
            </a:extLst>
          </p:cNvPr>
          <p:cNvSpPr txBox="1"/>
          <p:nvPr/>
        </p:nvSpPr>
        <p:spPr>
          <a:xfrm>
            <a:off x="341641" y="284868"/>
            <a:ext cx="6608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Background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EF7A3A-2476-E8E9-76BB-2C5A1FBD16BB}"/>
              </a:ext>
            </a:extLst>
          </p:cNvPr>
          <p:cNvSpPr txBox="1"/>
          <p:nvPr/>
        </p:nvSpPr>
        <p:spPr>
          <a:xfrm>
            <a:off x="4095455" y="4195023"/>
            <a:ext cx="6095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- Solver: Sampling</a:t>
            </a:r>
          </a:p>
        </p:txBody>
      </p:sp>
    </p:spTree>
    <p:extLst>
      <p:ext uri="{BB962C8B-B14F-4D97-AF65-F5344CB8AC3E}">
        <p14:creationId xmlns:p14="http://schemas.microsoft.com/office/powerpoint/2010/main" val="414506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3629-B6C3-963D-273B-96CE6D4D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87CA466-4879-07AE-0D1E-0DE2D5E914B0}"/>
              </a:ext>
            </a:extLst>
          </p:cNvPr>
          <p:cNvSpPr txBox="1"/>
          <p:nvPr/>
        </p:nvSpPr>
        <p:spPr>
          <a:xfrm>
            <a:off x="621587" y="1113931"/>
            <a:ext cx="4714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MPC via Probabilistic Inference</a:t>
            </a:r>
            <a:endParaRPr lang="zh-CN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61369-533D-18CE-8C0F-B5405626F4AC}"/>
              </a:ext>
            </a:extLst>
          </p:cNvPr>
          <p:cNvSpPr txBox="1"/>
          <p:nvPr/>
        </p:nvSpPr>
        <p:spPr>
          <a:xfrm>
            <a:off x="341641" y="284868"/>
            <a:ext cx="6608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Background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64C202-534F-4205-F87B-ECE4F58A2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87" y="1819884"/>
            <a:ext cx="6457308" cy="18308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620660-A2A0-95D9-285D-66F9994EE114}"/>
                  </a:ext>
                </a:extLst>
              </p:cNvPr>
              <p:cNvSpPr txBox="1"/>
              <p:nvPr/>
            </p:nvSpPr>
            <p:spPr>
              <a:xfrm>
                <a:off x="7448764" y="1900719"/>
                <a:ext cx="387663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/>
                  <a:t>x_t+1</a:t>
                </a:r>
                <a:r>
                  <a:rPr lang="en-US" altLang="zh-CN" dirty="0"/>
                  <a:t> = f(</a:t>
                </a:r>
                <a:r>
                  <a:rPr lang="en-US" altLang="zh-CN" b="1" dirty="0" err="1"/>
                  <a:t>x_t</a:t>
                </a:r>
                <a:r>
                  <a:rPr lang="en-US" altLang="zh-CN" dirty="0"/>
                  <a:t>, </a:t>
                </a:r>
                <a:r>
                  <a:rPr lang="en-US" altLang="zh-CN" b="1" dirty="0" err="1"/>
                  <a:t>u_t</a:t>
                </a:r>
                <a:r>
                  <a:rPr lang="en-US" altLang="zh-CN" dirty="0"/>
                  <a:t>)  </a:t>
                </a:r>
                <a:endParaRPr lang="en-US" altLang="zh-CN" dirty="0">
                  <a:solidFill>
                    <a:srgbClr val="00B0F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/>
                  <a:t>u</a:t>
                </a:r>
                <a:r>
                  <a:rPr lang="en-US" altLang="zh-CN" dirty="0"/>
                  <a:t> typically sampled from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dirty="0">
                  <a:solidFill>
                    <a:srgbClr val="00B0F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 err="1"/>
                  <a:t>O_t</a:t>
                </a:r>
                <a:r>
                  <a:rPr lang="en-US" altLang="zh-CN" dirty="0"/>
                  <a:t> is a </a:t>
                </a:r>
                <a:r>
                  <a:rPr lang="en-US" altLang="zh-CN" b="1" dirty="0"/>
                  <a:t>virtual binary </a:t>
                </a:r>
                <a:r>
                  <a:rPr lang="en-US" altLang="zh-CN" dirty="0"/>
                  <a:t>variable: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620660-A2A0-95D9-285D-66F9994EE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764" y="1900719"/>
                <a:ext cx="3876639" cy="1477328"/>
              </a:xfrm>
              <a:prstGeom prst="rect">
                <a:avLst/>
              </a:prstGeom>
              <a:blipFill>
                <a:blip r:embed="rId3"/>
                <a:stretch>
                  <a:fillRect l="-1101" t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0C8C172-8826-EDC8-ACFF-1DF419A6A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660" y="2796949"/>
            <a:ext cx="3520739" cy="813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1DD3CB-A446-ABEB-3CE6-8E2F7EB7D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4990" y="3387296"/>
            <a:ext cx="1780991" cy="264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053A05-E0FA-4CEF-0F0B-D4C96F46D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7845" y="3849536"/>
            <a:ext cx="6867980" cy="7479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2ADF4C-4232-F072-F5B9-85CE3A4303E2}"/>
              </a:ext>
            </a:extLst>
          </p:cNvPr>
          <p:cNvCxnSpPr/>
          <p:nvPr/>
        </p:nvCxnSpPr>
        <p:spPr>
          <a:xfrm>
            <a:off x="6535282" y="4639622"/>
            <a:ext cx="22449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100B86A-EF3D-DCDD-6B30-7122D04C89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248" y="4681802"/>
            <a:ext cx="3364781" cy="12976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0BC89B9-562F-7689-88D2-5015DCB112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5396" y="1920263"/>
            <a:ext cx="380952" cy="2857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D75387-67A8-9CFA-AFE4-184D65C8AE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4698" y="2202906"/>
            <a:ext cx="380952" cy="2857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0CC65CA-BE9F-E1E2-5E82-CE6849E2D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4222" y="3000297"/>
            <a:ext cx="380952" cy="2857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0213A4-6DCC-03C0-CBF9-703DE30589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5524" y="4597443"/>
            <a:ext cx="8780952" cy="146666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B75E93D-CA9A-C6E2-70B7-56E5F08724C9}"/>
              </a:ext>
            </a:extLst>
          </p:cNvPr>
          <p:cNvSpPr/>
          <p:nvPr/>
        </p:nvSpPr>
        <p:spPr>
          <a:xfrm>
            <a:off x="3882237" y="407978"/>
            <a:ext cx="74382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-New Goal: </a:t>
            </a:r>
            <a:r>
              <a:rPr lang="en-US" altLang="zh-CN" sz="2400" dirty="0"/>
              <a:t>find the </a:t>
            </a:r>
            <a:r>
              <a:rPr lang="en-US" altLang="zh-CN" sz="2400" b="1" dirty="0"/>
              <a:t>distribution</a:t>
            </a:r>
            <a:r>
              <a:rPr lang="en-US" altLang="zh-CN" sz="2400" dirty="0"/>
              <a:t> of the optimal action!</a:t>
            </a:r>
            <a:endParaRPr lang="en-US" altLang="zh-CN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182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E36A6AE-A829-6E7A-8AC7-13C3F50B72DA}"/>
              </a:ext>
            </a:extLst>
          </p:cNvPr>
          <p:cNvGrpSpPr/>
          <p:nvPr/>
        </p:nvGrpSpPr>
        <p:grpSpPr>
          <a:xfrm>
            <a:off x="1082215" y="4753081"/>
            <a:ext cx="7000350" cy="1587107"/>
            <a:chOff x="1082215" y="4753081"/>
            <a:chExt cx="7000350" cy="158710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4B65C23-4547-A142-73F6-D655D93BE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2215" y="4753081"/>
              <a:ext cx="6400342" cy="158710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39FA02-5D7E-DFF6-582B-B3EFF594F996}"/>
                </a:ext>
              </a:extLst>
            </p:cNvPr>
            <p:cNvSpPr txBox="1"/>
            <p:nvPr/>
          </p:nvSpPr>
          <p:spPr>
            <a:xfrm>
              <a:off x="7556459" y="5206495"/>
              <a:ext cx="52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(2)</a:t>
              </a:r>
              <a:endParaRPr lang="zh-CN" altLang="en-US" sz="2400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032D9468-09B8-1CD6-A445-401E214A23DA}"/>
              </a:ext>
            </a:extLst>
          </p:cNvPr>
          <p:cNvSpPr/>
          <p:nvPr/>
        </p:nvSpPr>
        <p:spPr>
          <a:xfrm>
            <a:off x="1693855" y="5668160"/>
            <a:ext cx="1567505" cy="344515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1DBE5-036F-C072-F3C1-06690D3623C4}"/>
              </a:ext>
            </a:extLst>
          </p:cNvPr>
          <p:cNvSpPr txBox="1"/>
          <p:nvPr/>
        </p:nvSpPr>
        <p:spPr>
          <a:xfrm>
            <a:off x="200134" y="292972"/>
            <a:ext cx="8856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M2PC: Multimodal MPC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7A2AA-A112-EDFE-8944-CC334E372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083" y="332911"/>
            <a:ext cx="4243519" cy="708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1EE0D-4D09-3B9C-81BE-423FC05B6641}"/>
                  </a:ext>
                </a:extLst>
              </p:cNvPr>
              <p:cNvSpPr txBox="1"/>
              <p:nvPr/>
            </p:nvSpPr>
            <p:spPr>
              <a:xfrm>
                <a:off x="200134" y="1189840"/>
                <a:ext cx="61991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1. Find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/>
                  <a:t>good</a:t>
                </a:r>
                <a:r>
                  <a:rPr lang="en-US" altLang="zh-CN" dirty="0"/>
                  <a:t> and sufficiently </a:t>
                </a:r>
                <a:r>
                  <a:rPr lang="en-US" altLang="zh-CN" b="1" dirty="0"/>
                  <a:t>diverse</a:t>
                </a:r>
                <a:r>
                  <a:rPr lang="en-US" altLang="zh-CN" dirty="0"/>
                  <a:t> actions (modeling)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1EE0D-4D09-3B9C-81BE-423FC05B6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34" y="1189840"/>
                <a:ext cx="6199133" cy="369332"/>
              </a:xfrm>
              <a:prstGeom prst="rect">
                <a:avLst/>
              </a:prstGeom>
              <a:blipFill>
                <a:blip r:embed="rId4"/>
                <a:stretch>
                  <a:fillRect l="-688" t="-8197" r="-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22433EB-C3A0-9E13-6F9A-5F01AE553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798" y="1826029"/>
            <a:ext cx="3798731" cy="69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7FC94A-BFEB-8EA8-63E7-BCBAC4BAE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241" y="1851309"/>
            <a:ext cx="4733361" cy="616509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C38691E4-DA35-3095-9362-B28B590F1D00}"/>
              </a:ext>
            </a:extLst>
          </p:cNvPr>
          <p:cNvSpPr/>
          <p:nvPr/>
        </p:nvSpPr>
        <p:spPr>
          <a:xfrm>
            <a:off x="659598" y="3059668"/>
            <a:ext cx="1174399" cy="369332"/>
          </a:xfrm>
          <a:prstGeom prst="rightArrow">
            <a:avLst>
              <a:gd name="adj1" fmla="val 26421"/>
              <a:gd name="adj2" fmla="val 5000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C56034-3FD3-0745-9ED5-9E63ACBF69A2}"/>
              </a:ext>
            </a:extLst>
          </p:cNvPr>
          <p:cNvSpPr txBox="1"/>
          <p:nvPr/>
        </p:nvSpPr>
        <p:spPr>
          <a:xfrm>
            <a:off x="659598" y="283572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Simplify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D945D3-5B61-87F9-D6BB-35767B1B9971}"/>
                  </a:ext>
                </a:extLst>
              </p:cNvPr>
              <p:cNvSpPr txBox="1"/>
              <p:nvPr/>
            </p:nvSpPr>
            <p:spPr>
              <a:xfrm>
                <a:off x="200134" y="3997955"/>
                <a:ext cx="6222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2. Select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action from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sampled actions (approximation)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D945D3-5B61-87F9-D6BB-35767B1B9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34" y="3997955"/>
                <a:ext cx="6222409" cy="369332"/>
              </a:xfrm>
              <a:prstGeom prst="rect">
                <a:avLst/>
              </a:prstGeom>
              <a:blipFill>
                <a:blip r:embed="rId7"/>
                <a:stretch>
                  <a:fillRect l="-686" t="-10000" r="-19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90E4D48B-0BCB-C146-BBBA-727CF33D07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60" t="3011"/>
          <a:stretch>
            <a:fillRect/>
          </a:stretch>
        </p:blipFill>
        <p:spPr>
          <a:xfrm>
            <a:off x="8202385" y="4256314"/>
            <a:ext cx="3854667" cy="25497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0F1EE1-639B-72EE-8377-7D36D7DF27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44" y="4539053"/>
            <a:ext cx="1744850" cy="621129"/>
          </a:xfrm>
          <a:prstGeom prst="rect">
            <a:avLst/>
          </a:prstGeom>
          <a:ln w="34925">
            <a:solidFill>
              <a:schemeClr val="accent2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356FDE3-C8EB-B259-50A4-E098863B4341}"/>
              </a:ext>
            </a:extLst>
          </p:cNvPr>
          <p:cNvGrpSpPr/>
          <p:nvPr/>
        </p:nvGrpSpPr>
        <p:grpSpPr>
          <a:xfrm>
            <a:off x="2260180" y="2750247"/>
            <a:ext cx="9272222" cy="823645"/>
            <a:chOff x="2260180" y="2750247"/>
            <a:chExt cx="9272222" cy="82364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D3AB9B-C1D4-0637-0E63-A081219BF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60180" y="2750247"/>
              <a:ext cx="8527563" cy="82364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6EA7E1F-4159-BD01-09EC-9E008A7BCFB9}"/>
                </a:ext>
              </a:extLst>
            </p:cNvPr>
            <p:cNvSpPr txBox="1"/>
            <p:nvPr/>
          </p:nvSpPr>
          <p:spPr>
            <a:xfrm>
              <a:off x="11006296" y="2900400"/>
              <a:ext cx="52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(1)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9028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6" grpId="0"/>
      <p:bldP spid="15" grpId="0" animBg="1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1922-E940-00C8-5DC0-815F5F77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37A9B7-7F6E-03CC-F2F6-B49D12CE04B4}"/>
              </a:ext>
            </a:extLst>
          </p:cNvPr>
          <p:cNvSpPr txBox="1"/>
          <p:nvPr/>
        </p:nvSpPr>
        <p:spPr>
          <a:xfrm>
            <a:off x="200134" y="292972"/>
            <a:ext cx="8856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M2PC: Multimodal MPC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09DD05-6B69-33F1-DB04-E3E28F10FDA5}"/>
                  </a:ext>
                </a:extLst>
              </p:cNvPr>
              <p:cNvSpPr txBox="1"/>
              <p:nvPr/>
            </p:nvSpPr>
            <p:spPr>
              <a:xfrm>
                <a:off x="330763" y="1041699"/>
                <a:ext cx="6222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2. Select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action from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sampled actions (approximation)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09DD05-6B69-33F1-DB04-E3E28F10F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63" y="1041699"/>
                <a:ext cx="6222409" cy="369332"/>
              </a:xfrm>
              <a:prstGeom prst="rect">
                <a:avLst/>
              </a:prstGeom>
              <a:blipFill>
                <a:blip r:embed="rId2"/>
                <a:stretch>
                  <a:fillRect l="-588" t="-10000" r="-29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B2AE724-ADD0-555B-D0CD-859A81CBCDDF}"/>
              </a:ext>
            </a:extLst>
          </p:cNvPr>
          <p:cNvSpPr txBox="1"/>
          <p:nvPr/>
        </p:nvSpPr>
        <p:spPr>
          <a:xfrm>
            <a:off x="330763" y="2509939"/>
            <a:ext cx="502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3. Greedy method (choose action one by one)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C5DAB-CE7B-EA7B-F41C-D1FAFCF34313}"/>
              </a:ext>
            </a:extLst>
          </p:cNvPr>
          <p:cNvSpPr txBox="1"/>
          <p:nvPr/>
        </p:nvSpPr>
        <p:spPr>
          <a:xfrm>
            <a:off x="930729" y="3043223"/>
            <a:ext cx="3044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Choose first action to the set:</a:t>
            </a:r>
            <a:endParaRPr lang="zh-CN" alt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96F177-7A95-99E5-0757-58B2BBD4F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64" y="3495705"/>
            <a:ext cx="7074405" cy="7964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A75996-2A7E-D76B-E3B8-CE53814BA5D8}"/>
              </a:ext>
            </a:extLst>
          </p:cNvPr>
          <p:cNvSpPr txBox="1"/>
          <p:nvPr/>
        </p:nvSpPr>
        <p:spPr>
          <a:xfrm>
            <a:off x="930729" y="4487234"/>
            <a:ext cx="2385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For k = 2, …, n iterate:</a:t>
            </a:r>
            <a:endParaRPr lang="zh-CN" alt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C3F4B7-50FD-0EB1-93AB-6416B9703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964" y="4858970"/>
            <a:ext cx="7171917" cy="848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52F0C1-9E5F-DC70-6335-341285257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095" y="5024146"/>
            <a:ext cx="1895843" cy="517740"/>
          </a:xfrm>
          <a:prstGeom prst="rect">
            <a:avLst/>
          </a:prstGeom>
        </p:spPr>
      </p:pic>
      <p:sp>
        <p:nvSpPr>
          <p:cNvPr id="18" name="Right Brace 17">
            <a:extLst>
              <a:ext uri="{FF2B5EF4-FFF2-40B4-BE49-F238E27FC236}">
                <a16:creationId xmlns:a16="http://schemas.microsoft.com/office/drawing/2014/main" id="{BF4C71DC-A0B3-9681-2069-D50CC77C395B}"/>
              </a:ext>
            </a:extLst>
          </p:cNvPr>
          <p:cNvSpPr/>
          <p:nvPr/>
        </p:nvSpPr>
        <p:spPr>
          <a:xfrm rot="5400000">
            <a:off x="6671319" y="-1163661"/>
            <a:ext cx="302520" cy="7074405"/>
          </a:xfrm>
          <a:prstGeom prst="rightBrace">
            <a:avLst>
              <a:gd name="adj1" fmla="val 72204"/>
              <a:gd name="adj2" fmla="val 50616"/>
            </a:avLst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6D035-978E-5E83-8EEF-9677777F9318}"/>
              </a:ext>
            </a:extLst>
          </p:cNvPr>
          <p:cNvSpPr txBox="1"/>
          <p:nvPr/>
        </p:nvSpPr>
        <p:spPr>
          <a:xfrm>
            <a:off x="6342685" y="2559565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Obj(S)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40D0D-C18D-A5B9-1186-B887E445D16C}"/>
              </a:ext>
            </a:extLst>
          </p:cNvPr>
          <p:cNvSpPr/>
          <p:nvPr/>
        </p:nvSpPr>
        <p:spPr>
          <a:xfrm>
            <a:off x="133945" y="5740245"/>
            <a:ext cx="180218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Free 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58AD91-180D-889B-6D89-A98E5789061C}"/>
              </a:ext>
            </a:extLst>
          </p:cNvPr>
          <p:cNvGrpSpPr/>
          <p:nvPr/>
        </p:nvGrpSpPr>
        <p:grpSpPr>
          <a:xfrm>
            <a:off x="1832218" y="1574983"/>
            <a:ext cx="9530578" cy="771004"/>
            <a:chOff x="1832218" y="1574983"/>
            <a:chExt cx="9530578" cy="7710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BA8E9C4-C1D3-986C-A0FA-3AD68407D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32218" y="1574983"/>
              <a:ext cx="8527563" cy="77100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313C5B-1586-1EEC-8670-DD60ABDB27F7}"/>
                </a:ext>
              </a:extLst>
            </p:cNvPr>
            <p:cNvSpPr txBox="1"/>
            <p:nvPr/>
          </p:nvSpPr>
          <p:spPr>
            <a:xfrm>
              <a:off x="10836690" y="1729652"/>
              <a:ext cx="52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(2)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7222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18" grpId="0" animBg="1"/>
      <p:bldP spid="19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58C93-BDE6-63C5-556E-7459F1FA9407}"/>
              </a:ext>
            </a:extLst>
          </p:cNvPr>
          <p:cNvSpPr txBox="1"/>
          <p:nvPr/>
        </p:nvSpPr>
        <p:spPr>
          <a:xfrm>
            <a:off x="341641" y="284868"/>
            <a:ext cx="728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Simulation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A9E7E0-F7D3-2C93-898E-6970AB2B064F}"/>
              </a:ext>
            </a:extLst>
          </p:cNvPr>
          <p:cNvCxnSpPr>
            <a:cxnSpLocks/>
          </p:cNvCxnSpPr>
          <p:nvPr/>
        </p:nvCxnSpPr>
        <p:spPr>
          <a:xfrm>
            <a:off x="5635374" y="2630184"/>
            <a:ext cx="0" cy="39012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0F88DF-E4CB-59C6-C92C-1330ABC358C8}"/>
              </a:ext>
            </a:extLst>
          </p:cNvPr>
          <p:cNvSpPr txBox="1"/>
          <p:nvPr/>
        </p:nvSpPr>
        <p:spPr>
          <a:xfrm>
            <a:off x="552261" y="1191802"/>
            <a:ext cx="10511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Trajectory Tracking Task: control the top of the rope such that its bottom follows a desired trajectory. 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610A37-4D78-147D-EFC5-7F76A06F036A}"/>
              </a:ext>
            </a:extLst>
          </p:cNvPr>
          <p:cNvSpPr txBox="1"/>
          <p:nvPr/>
        </p:nvSpPr>
        <p:spPr>
          <a:xfrm>
            <a:off x="552260" y="1832225"/>
            <a:ext cx="402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Comparison with previous Method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3FA98C-0962-544E-8603-B2850022FD48}"/>
              </a:ext>
            </a:extLst>
          </p:cNvPr>
          <p:cNvSpPr/>
          <p:nvPr/>
        </p:nvSpPr>
        <p:spPr>
          <a:xfrm>
            <a:off x="2065592" y="2523716"/>
            <a:ext cx="1663927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SPiD</a:t>
            </a:r>
            <a:endParaRPr lang="en-US" altLang="zh-CN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20717-CEE3-488A-EDE5-DCD918FF1640}"/>
              </a:ext>
            </a:extLst>
          </p:cNvPr>
          <p:cNvSpPr/>
          <p:nvPr/>
        </p:nvSpPr>
        <p:spPr>
          <a:xfrm>
            <a:off x="8146181" y="2523716"/>
            <a:ext cx="1663927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M2PC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666DD-B14E-EA2A-218D-9B00B8780577}"/>
              </a:ext>
            </a:extLst>
          </p:cNvPr>
          <p:cNvSpPr txBox="1"/>
          <p:nvPr/>
        </p:nvSpPr>
        <p:spPr>
          <a:xfrm>
            <a:off x="1114242" y="2915317"/>
            <a:ext cx="4020651" cy="2750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Initial state collection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Need training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</a:rPr>
              <a:t>Fast online calculation (MLP)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30cm rope for test                                                              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80681-5B07-3C92-8D24-9E893C7C2767}"/>
              </a:ext>
            </a:extLst>
          </p:cNvPr>
          <p:cNvSpPr txBox="1"/>
          <p:nvPr/>
        </p:nvSpPr>
        <p:spPr>
          <a:xfrm>
            <a:off x="6769370" y="2915316"/>
            <a:ext cx="4020651" cy="2750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</a:rPr>
              <a:t>No data collection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</a:rPr>
              <a:t>No training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Need great GPU for rollout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</a:rPr>
              <a:t>100cm rope for test                                                               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27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700450-7253-172C-F5D9-5B3737D795B2}"/>
              </a:ext>
            </a:extLst>
          </p:cNvPr>
          <p:cNvSpPr txBox="1"/>
          <p:nvPr/>
        </p:nvSpPr>
        <p:spPr>
          <a:xfrm>
            <a:off x="507336" y="2766545"/>
            <a:ext cx="728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Step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FA422-0A98-65C1-740D-52B307EBFF19}"/>
              </a:ext>
            </a:extLst>
          </p:cNvPr>
          <p:cNvSpPr txBox="1"/>
          <p:nvPr/>
        </p:nvSpPr>
        <p:spPr>
          <a:xfrm>
            <a:off x="1912528" y="3404880"/>
            <a:ext cx="5569153" cy="2469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dirty="0"/>
              <a:t>Multimodal behavior test (Collision avoidance)</a:t>
            </a:r>
          </a:p>
          <a:p>
            <a:pPr marL="285750" indent="-285750">
              <a:lnSpc>
                <a:spcPct val="200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dirty="0"/>
              <a:t>Robustness to external force</a:t>
            </a:r>
          </a:p>
          <a:p>
            <a:pPr marL="285750" indent="-285750">
              <a:lnSpc>
                <a:spcPct val="200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dirty="0"/>
              <a:t>Adaptive to different ropes</a:t>
            </a:r>
          </a:p>
          <a:p>
            <a:pPr marL="285750" indent="-285750">
              <a:lnSpc>
                <a:spcPct val="200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dirty="0"/>
              <a:t>Real experiments for all above </a:t>
            </a:r>
            <a:endParaRPr lang="zh-CN" alt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11878-4C0F-3A18-32F8-6A48D69ED5BA}"/>
              </a:ext>
            </a:extLst>
          </p:cNvPr>
          <p:cNvSpPr txBox="1"/>
          <p:nvPr/>
        </p:nvSpPr>
        <p:spPr>
          <a:xfrm>
            <a:off x="507336" y="260653"/>
            <a:ext cx="728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53776-33BC-4FC2-8823-9CC1C8D86D07}"/>
              </a:ext>
            </a:extLst>
          </p:cNvPr>
          <p:cNvSpPr txBox="1"/>
          <p:nvPr/>
        </p:nvSpPr>
        <p:spPr>
          <a:xfrm>
            <a:off x="696727" y="1144267"/>
            <a:ext cx="11428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M2PC provides a </a:t>
            </a:r>
            <a:r>
              <a:rPr lang="en-US" altLang="zh-CN" sz="2000" b="1" dirty="0">
                <a:solidFill>
                  <a:srgbClr val="FF0000"/>
                </a:solidFill>
              </a:rPr>
              <a:t>multimodal</a:t>
            </a:r>
            <a:r>
              <a:rPr lang="en-US" altLang="zh-CN" sz="2000" dirty="0"/>
              <a:t> inference framework for </a:t>
            </a:r>
            <a:r>
              <a:rPr lang="en-US" altLang="zh-CN" sz="2000" dirty="0">
                <a:solidFill>
                  <a:srgbClr val="00B0F0"/>
                </a:solidFill>
              </a:rPr>
              <a:t>high-dimensional</a:t>
            </a:r>
            <a:r>
              <a:rPr lang="en-US" altLang="zh-CN" sz="2000" dirty="0"/>
              <a:t> and </a:t>
            </a:r>
            <a:r>
              <a:rPr lang="en-US" altLang="zh-CN" sz="2000" dirty="0">
                <a:solidFill>
                  <a:srgbClr val="00B0F0"/>
                </a:solidFill>
              </a:rPr>
              <a:t>highly nonlinear </a:t>
            </a:r>
            <a:r>
              <a:rPr lang="en-US" altLang="zh-CN" sz="2000" dirty="0"/>
              <a:t>systems.</a:t>
            </a:r>
            <a:br>
              <a:rPr lang="en-US" altLang="zh-CN" sz="2000" dirty="0"/>
            </a:br>
            <a:r>
              <a:rPr lang="en-US" altLang="zh-CN" sz="2000" dirty="0"/>
              <a:t>In the rope trajectory tracking task, it achieves </a:t>
            </a:r>
            <a:r>
              <a:rPr lang="en-US" altLang="zh-CN" sz="2000" dirty="0">
                <a:solidFill>
                  <a:srgbClr val="00B0F0"/>
                </a:solidFill>
              </a:rPr>
              <a:t>high-quality control performance </a:t>
            </a:r>
            <a:r>
              <a:rPr lang="en-US" altLang="zh-CN" sz="2000" dirty="0"/>
              <a:t>for </a:t>
            </a:r>
          </a:p>
          <a:p>
            <a:r>
              <a:rPr lang="en-US" altLang="zh-CN" sz="2000" b="1" dirty="0">
                <a:solidFill>
                  <a:srgbClr val="FF0000"/>
                </a:solidFill>
              </a:rPr>
              <a:t>arbitrary reference trajectories</a:t>
            </a:r>
            <a:r>
              <a:rPr lang="en-US" altLang="zh-CN" sz="2000" dirty="0"/>
              <a:t> and </a:t>
            </a:r>
            <a:r>
              <a:rPr lang="en-US" altLang="zh-CN" sz="2000" b="1" dirty="0">
                <a:solidFill>
                  <a:srgbClr val="FF0000"/>
                </a:solidFill>
              </a:rPr>
              <a:t>reasonable time durations</a:t>
            </a:r>
            <a:r>
              <a:rPr lang="en-US" altLang="zh-CN" sz="2000" dirty="0"/>
              <a:t>, </a:t>
            </a:r>
          </a:p>
          <a:p>
            <a:r>
              <a:rPr lang="en-US" altLang="zh-CN" sz="2000" b="1" dirty="0">
                <a:solidFill>
                  <a:srgbClr val="FF0000"/>
                </a:solidFill>
              </a:rPr>
              <a:t>without requiring any training </a:t>
            </a:r>
            <a:r>
              <a:rPr lang="en-US" altLang="zh-CN" sz="2000" dirty="0"/>
              <a:t>or </a:t>
            </a:r>
            <a:r>
              <a:rPr lang="en-US" altLang="zh-CN" sz="2000" b="1" dirty="0">
                <a:solidFill>
                  <a:srgbClr val="FF0000"/>
                </a:solidFill>
              </a:rPr>
              <a:t>expert demonstration data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661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2481A8-04CD-C572-D58B-2E6B730E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11" y="3944558"/>
            <a:ext cx="4513699" cy="26825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D85BC4-BD8A-BD32-06D9-DFC41EF2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261" y="1126203"/>
            <a:ext cx="4513699" cy="2682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1D8B4D-0062-1EBB-FCDE-D7B1133E4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262" y="3944558"/>
            <a:ext cx="4513699" cy="2682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66B338-07E6-25B8-2ABD-FBF0072D9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411" y="1126202"/>
            <a:ext cx="4513699" cy="26825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C6318D-2B3E-F080-06DB-462B9F381D39}"/>
              </a:ext>
            </a:extLst>
          </p:cNvPr>
          <p:cNvSpPr txBox="1"/>
          <p:nvPr/>
        </p:nvSpPr>
        <p:spPr>
          <a:xfrm>
            <a:off x="341641" y="284868"/>
            <a:ext cx="728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Multimodality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20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732A9D-BB7A-3BB2-842D-BEF97BAE5FEE}"/>
              </a:ext>
            </a:extLst>
          </p:cNvPr>
          <p:cNvSpPr txBox="1"/>
          <p:nvPr/>
        </p:nvSpPr>
        <p:spPr>
          <a:xfrm>
            <a:off x="361376" y="469064"/>
            <a:ext cx="728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Real Experiment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1E089A3-F9ED-3D0E-58D4-8CA9DC5682F5}"/>
              </a:ext>
            </a:extLst>
          </p:cNvPr>
          <p:cNvCxnSpPr>
            <a:cxnSpLocks/>
          </p:cNvCxnSpPr>
          <p:nvPr/>
        </p:nvCxnSpPr>
        <p:spPr>
          <a:xfrm>
            <a:off x="8847017" y="820615"/>
            <a:ext cx="0" cy="5572369"/>
          </a:xfrm>
          <a:prstGeom prst="line">
            <a:avLst/>
          </a:prstGeom>
          <a:ln w="635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ECFCFCC-D9B6-D981-B2DC-81B25C1A401E}"/>
              </a:ext>
            </a:extLst>
          </p:cNvPr>
          <p:cNvSpPr txBox="1"/>
          <p:nvPr/>
        </p:nvSpPr>
        <p:spPr>
          <a:xfrm>
            <a:off x="6733941" y="990225"/>
            <a:ext cx="199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/>
              <a:t>Franka robot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5BE068-9571-0215-DF89-A3D25BDF1ED9}"/>
              </a:ext>
            </a:extLst>
          </p:cNvPr>
          <p:cNvSpPr txBox="1"/>
          <p:nvPr/>
        </p:nvSpPr>
        <p:spPr>
          <a:xfrm>
            <a:off x="9141385" y="984669"/>
            <a:ext cx="199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/>
              <a:t>Remote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3EB35D-4486-17D6-9D2B-D89DF6B97328}"/>
              </a:ext>
            </a:extLst>
          </p:cNvPr>
          <p:cNvGrpSpPr/>
          <p:nvPr/>
        </p:nvGrpSpPr>
        <p:grpSpPr>
          <a:xfrm>
            <a:off x="931754" y="2773190"/>
            <a:ext cx="10328492" cy="3094585"/>
            <a:chOff x="807025" y="2778746"/>
            <a:chExt cx="10328492" cy="309458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362A688-74EA-E905-E3DF-DF6BADDC04F3}"/>
                </a:ext>
              </a:extLst>
            </p:cNvPr>
            <p:cNvSpPr txBox="1"/>
            <p:nvPr/>
          </p:nvSpPr>
          <p:spPr>
            <a:xfrm rot="1486413">
              <a:off x="9043471" y="2778746"/>
              <a:ext cx="99899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Pos</a:t>
              </a:r>
            </a:p>
            <a:p>
              <a:pPr algn="ctr"/>
              <a:r>
                <a:rPr lang="en-US" altLang="zh-CN" dirty="0"/>
                <a:t>Vel</a:t>
              </a:r>
            </a:p>
            <a:p>
              <a:pPr algn="ctr"/>
              <a:r>
                <a:rPr lang="en-US" altLang="zh-CN" dirty="0"/>
                <a:t>goal </a:t>
              </a:r>
              <a:r>
                <a:rPr lang="en-US" altLang="zh-CN" dirty="0" err="1"/>
                <a:t>traj</a:t>
              </a:r>
              <a:endParaRPr lang="zh-CN" altLang="en-US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E05CD4C-9025-5246-E2B9-A396ACA1C508}"/>
                </a:ext>
              </a:extLst>
            </p:cNvPr>
            <p:cNvGrpSpPr/>
            <p:nvPr/>
          </p:nvGrpSpPr>
          <p:grpSpPr>
            <a:xfrm>
              <a:off x="807025" y="3070587"/>
              <a:ext cx="10328492" cy="2802744"/>
              <a:chOff x="807025" y="3070587"/>
              <a:chExt cx="10328492" cy="280274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17D4454-D4C1-96B2-36F2-183DE719F9CD}"/>
                  </a:ext>
                </a:extLst>
              </p:cNvPr>
              <p:cNvSpPr/>
              <p:nvPr/>
            </p:nvSpPr>
            <p:spPr>
              <a:xfrm>
                <a:off x="3733512" y="3149064"/>
                <a:ext cx="1223748" cy="531745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 err="1">
                    <a:solidFill>
                      <a:srgbClr val="00B0F0"/>
                    </a:solidFill>
                  </a:rPr>
                  <a:t>Optitrack</a:t>
                </a:r>
                <a:endParaRPr lang="zh-CN" altLang="en-US" b="1" dirty="0">
                  <a:solidFill>
                    <a:srgbClr val="00B0F0"/>
                  </a:solidFill>
                </a:endParaRPr>
              </a:p>
            </p:txBody>
          </p:sp>
          <p:pic>
            <p:nvPicPr>
              <p:cNvPr id="40" name="Picture 39" descr="\documentclass{article}&#10;\usepackage{amsmath}&#10;\pagestyle{empty}&#10;\begin{document}&#10;&#10;\[&#10;raw\ point\ cloud&#10;\]&#10;&#10;&#10;&#10;\end{document}" title="IguanaTex Bitmap Display">
                <a:extLst>
                  <a:ext uri="{FF2B5EF4-FFF2-40B4-BE49-F238E27FC236}">
                    <a16:creationId xmlns:a16="http://schemas.microsoft.com/office/drawing/2014/main" id="{71809377-3B34-24F2-4531-90AB6A1866A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68125" y="3070587"/>
                <a:ext cx="1623793" cy="205068"/>
              </a:xfrm>
              <a:prstGeom prst="rect">
                <a:avLst/>
              </a:prstGeom>
            </p:spPr>
          </p:pic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1733E8C-0525-B8C2-0640-4F3A2A02F8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0216" y="3452337"/>
                <a:ext cx="734598" cy="0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7DC17B8-6651-4C64-059C-A146FD5A32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7025" y="3099895"/>
                <a:ext cx="1992996" cy="1964028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395BF25-D988-E12C-76AE-A55DEA8B08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4278" y="3409360"/>
                <a:ext cx="2051489" cy="1699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E35CDD6F-EF78-31BF-F662-D3537098A094}"/>
                  </a:ext>
                </a:extLst>
              </p:cNvPr>
              <p:cNvSpPr/>
              <p:nvPr/>
            </p:nvSpPr>
            <p:spPr>
              <a:xfrm>
                <a:off x="7230646" y="3143488"/>
                <a:ext cx="1223748" cy="531745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Node-1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6FD6AA4-B79F-B0B4-4A6D-9B2C71ADD429}"/>
                  </a:ext>
                </a:extLst>
              </p:cNvPr>
              <p:cNvSpPr/>
              <p:nvPr/>
            </p:nvSpPr>
            <p:spPr>
              <a:xfrm>
                <a:off x="10071003" y="3694576"/>
                <a:ext cx="1064514" cy="757416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Rocco</a:t>
                </a:r>
              </a:p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(M2PC)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1C157C44-C7BC-F524-5FE4-3C016B5D2DE9}"/>
                  </a:ext>
                </a:extLst>
              </p:cNvPr>
              <p:cNvSpPr/>
              <p:nvPr/>
            </p:nvSpPr>
            <p:spPr>
              <a:xfrm>
                <a:off x="7230646" y="4441262"/>
                <a:ext cx="1223748" cy="531745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Node-2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B3113AE-9D6D-B30E-D597-A9A4651A23FC}"/>
                  </a:ext>
                </a:extLst>
              </p:cNvPr>
              <p:cNvCxnSpPr>
                <a:cxnSpLocks/>
                <a:stCxn id="43" idx="3"/>
                <a:endCxn id="45" idx="1"/>
              </p:cNvCxnSpPr>
              <p:nvPr/>
            </p:nvCxnSpPr>
            <p:spPr>
              <a:xfrm>
                <a:off x="8454394" y="3409361"/>
                <a:ext cx="1616609" cy="663923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64AA9401-9047-FF7A-A797-134B9B004422}"/>
                  </a:ext>
                </a:extLst>
              </p:cNvPr>
              <p:cNvCxnSpPr>
                <a:cxnSpLocks/>
                <a:stCxn id="45" idx="1"/>
                <a:endCxn id="46" idx="3"/>
              </p:cNvCxnSpPr>
              <p:nvPr/>
            </p:nvCxnSpPr>
            <p:spPr>
              <a:xfrm flipH="1">
                <a:off x="8454394" y="4073284"/>
                <a:ext cx="1616609" cy="633851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1CCEE5F-F44F-455D-97C6-E059882FA284}"/>
                  </a:ext>
                </a:extLst>
              </p:cNvPr>
              <p:cNvSpPr/>
              <p:nvPr/>
            </p:nvSpPr>
            <p:spPr>
              <a:xfrm>
                <a:off x="3693231" y="4398920"/>
                <a:ext cx="1402778" cy="616431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B0F0"/>
                    </a:solidFill>
                  </a:rPr>
                  <a:t>Impedance controller</a:t>
                </a:r>
                <a:endParaRPr lang="zh-CN" altLang="en-US" b="1" dirty="0">
                  <a:solidFill>
                    <a:srgbClr val="00B0F0"/>
                  </a:solidFill>
                </a:endParaRP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CF2EEA3A-FF71-9ACE-FC23-E68AF0A78F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0216" y="4707135"/>
                <a:ext cx="682807" cy="0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ECB6B65-F7A6-DA2A-811E-5ED89E5FE4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8125" y="4707135"/>
                <a:ext cx="1714095" cy="0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6" name="Picture 65" descr="\documentclass{article}&#10;\usepackage{amsmath}&#10;\pagestyle{empty}&#10;\begin{document}&#10;&#10;\[&#10;position \ command&#10;\]&#10;&#10;&#10;&#10;\end{document}" title="IguanaTex Bitmap Display">
                <a:extLst>
                  <a:ext uri="{FF2B5EF4-FFF2-40B4-BE49-F238E27FC236}">
                    <a16:creationId xmlns:a16="http://schemas.microsoft.com/office/drawing/2014/main" id="{84A5DF1B-CE54-9CD9-12C7-827FAD256D4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66217" y="4338728"/>
                <a:ext cx="1919535" cy="205068"/>
              </a:xfrm>
              <a:prstGeom prst="rect">
                <a:avLst/>
              </a:prstGeom>
            </p:spPr>
          </p:pic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ACDD89D1-DE18-5F6A-6012-3BC3C60087F7}"/>
                  </a:ext>
                </a:extLst>
              </p:cNvPr>
              <p:cNvSpPr/>
              <p:nvPr/>
            </p:nvSpPr>
            <p:spPr>
              <a:xfrm>
                <a:off x="10071003" y="5115915"/>
                <a:ext cx="1064514" cy="757416"/>
              </a:xfrm>
              <a:prstGeom prst="roundRect">
                <a:avLst/>
              </a:prstGeom>
              <a:ln w="19050">
                <a:solidFill>
                  <a:srgbClr val="002060"/>
                </a:solidFill>
                <a:prstDash val="sys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2"/>
                    </a:solidFill>
                  </a:rPr>
                  <a:t>Rope</a:t>
                </a:r>
              </a:p>
              <a:p>
                <a:pPr algn="ctr"/>
                <a:r>
                  <a:rPr lang="en-US" altLang="zh-CN" b="1" dirty="0">
                    <a:solidFill>
                      <a:schemeClr val="accent2"/>
                    </a:solidFill>
                  </a:rPr>
                  <a:t>Model</a:t>
                </a:r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1B62600B-5484-58E4-23CB-34E1994AB80D}"/>
                  </a:ext>
                </a:extLst>
              </p:cNvPr>
              <p:cNvCxnSpPr>
                <a:cxnSpLocks/>
                <a:stCxn id="67" idx="0"/>
                <a:endCxn id="45" idx="2"/>
              </p:cNvCxnSpPr>
              <p:nvPr/>
            </p:nvCxnSpPr>
            <p:spPr>
              <a:xfrm flipV="1">
                <a:off x="10603260" y="4451992"/>
                <a:ext cx="0" cy="66392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2EBF62D-78BD-B0DE-AF72-173ABE75262C}"/>
                  </a:ext>
                </a:extLst>
              </p:cNvPr>
              <p:cNvSpPr txBox="1"/>
              <p:nvPr/>
            </p:nvSpPr>
            <p:spPr>
              <a:xfrm rot="20234031">
                <a:off x="8729448" y="4422156"/>
                <a:ext cx="1407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Acceleration</a:t>
                </a:r>
                <a:endParaRPr lang="zh-CN" altLang="en-US" dirty="0"/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753D79B-2A59-FDC9-8B7F-C4CEF3D49AFF}"/>
              </a:ext>
            </a:extLst>
          </p:cNvPr>
          <p:cNvSpPr txBox="1"/>
          <p:nvPr/>
        </p:nvSpPr>
        <p:spPr>
          <a:xfrm>
            <a:off x="1178187" y="1370292"/>
            <a:ext cx="5189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Node-1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- Reorder rope node positions</a:t>
            </a:r>
            <a:br>
              <a:rPr lang="en-US" altLang="zh-CN" dirty="0"/>
            </a:br>
            <a:r>
              <a:rPr lang="en-US" altLang="zh-CN" dirty="0"/>
              <a:t>- Estimate node velocity via differencing + filtering</a:t>
            </a:r>
            <a:br>
              <a:rPr lang="en-US" altLang="zh-CN" dirty="0"/>
            </a:br>
            <a:r>
              <a:rPr lang="en-US" altLang="zh-CN" dirty="0"/>
              <a:t>- Update new target trajectory segment</a:t>
            </a:r>
            <a:endParaRPr lang="zh-CN" alt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85B887-CB0D-F225-15F8-DC0D50417EE1}"/>
              </a:ext>
            </a:extLst>
          </p:cNvPr>
          <p:cNvSpPr txBox="1"/>
          <p:nvPr/>
        </p:nvSpPr>
        <p:spPr>
          <a:xfrm>
            <a:off x="1172428" y="5526101"/>
            <a:ext cx="5445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Node-2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-Double integrate acc command to get goal position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260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2DFC2F-827E-A04B-9A39-0C3725B9CC96}"/>
              </a:ext>
            </a:extLst>
          </p:cNvPr>
          <p:cNvSpPr txBox="1"/>
          <p:nvPr/>
        </p:nvSpPr>
        <p:spPr>
          <a:xfrm>
            <a:off x="361375" y="469064"/>
            <a:ext cx="10494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Experiment to test why the framework does not work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B8DD1C-4410-D80B-00F4-12BB1FBEBC2F}"/>
              </a:ext>
            </a:extLst>
          </p:cNvPr>
          <p:cNvCxnSpPr>
            <a:cxnSpLocks/>
          </p:cNvCxnSpPr>
          <p:nvPr/>
        </p:nvCxnSpPr>
        <p:spPr>
          <a:xfrm>
            <a:off x="8952102" y="1211385"/>
            <a:ext cx="12145" cy="4712676"/>
          </a:xfrm>
          <a:prstGeom prst="line">
            <a:avLst/>
          </a:prstGeom>
          <a:ln w="635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D0BF576-614C-B32C-8C12-8A8C4B640AEB}"/>
              </a:ext>
            </a:extLst>
          </p:cNvPr>
          <p:cNvSpPr txBox="1"/>
          <p:nvPr/>
        </p:nvSpPr>
        <p:spPr>
          <a:xfrm>
            <a:off x="6830096" y="1332996"/>
            <a:ext cx="199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/>
              <a:t>Franka robot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AE85F-D424-F413-9522-5933C2CAB84F}"/>
              </a:ext>
            </a:extLst>
          </p:cNvPr>
          <p:cNvSpPr txBox="1"/>
          <p:nvPr/>
        </p:nvSpPr>
        <p:spPr>
          <a:xfrm>
            <a:off x="9125815" y="1332996"/>
            <a:ext cx="199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/>
              <a:t>Remote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DB9E05-23CC-414C-74CD-0654250E19A6}"/>
              </a:ext>
            </a:extLst>
          </p:cNvPr>
          <p:cNvGrpSpPr/>
          <p:nvPr/>
        </p:nvGrpSpPr>
        <p:grpSpPr>
          <a:xfrm>
            <a:off x="1048984" y="2304267"/>
            <a:ext cx="10328492" cy="3094585"/>
            <a:chOff x="807025" y="2778746"/>
            <a:chExt cx="10328492" cy="309458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EFF31B-DB84-9EE1-2735-E35425DEF3B9}"/>
                </a:ext>
              </a:extLst>
            </p:cNvPr>
            <p:cNvSpPr txBox="1"/>
            <p:nvPr/>
          </p:nvSpPr>
          <p:spPr>
            <a:xfrm rot="1486413">
              <a:off x="9043471" y="2778746"/>
              <a:ext cx="99899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Pos</a:t>
              </a:r>
            </a:p>
            <a:p>
              <a:pPr algn="ctr"/>
              <a:r>
                <a:rPr lang="en-US" altLang="zh-CN" dirty="0"/>
                <a:t>Vel</a:t>
              </a:r>
            </a:p>
            <a:p>
              <a:pPr algn="ctr"/>
              <a:r>
                <a:rPr lang="en-US" altLang="zh-CN" dirty="0"/>
                <a:t>goal </a:t>
              </a:r>
              <a:r>
                <a:rPr lang="en-US" altLang="zh-CN" dirty="0" err="1"/>
                <a:t>traj</a:t>
              </a:r>
              <a:endParaRPr lang="zh-CN" alt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28DA050-D0AE-CEEC-CB56-91C35D6A8F25}"/>
                </a:ext>
              </a:extLst>
            </p:cNvPr>
            <p:cNvGrpSpPr/>
            <p:nvPr/>
          </p:nvGrpSpPr>
          <p:grpSpPr>
            <a:xfrm>
              <a:off x="807025" y="3070587"/>
              <a:ext cx="10328492" cy="2802744"/>
              <a:chOff x="807025" y="3070587"/>
              <a:chExt cx="10328492" cy="280274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BA34377-D910-D723-E63E-29EBFDA0AE70}"/>
                  </a:ext>
                </a:extLst>
              </p:cNvPr>
              <p:cNvSpPr/>
              <p:nvPr/>
            </p:nvSpPr>
            <p:spPr>
              <a:xfrm>
                <a:off x="3733512" y="3149064"/>
                <a:ext cx="1223748" cy="531745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 err="1">
                    <a:solidFill>
                      <a:srgbClr val="00B0F0"/>
                    </a:solidFill>
                  </a:rPr>
                  <a:t>Optitrack</a:t>
                </a:r>
                <a:endParaRPr lang="zh-CN" altLang="en-US" b="1" dirty="0">
                  <a:solidFill>
                    <a:srgbClr val="00B0F0"/>
                  </a:solidFill>
                </a:endParaRPr>
              </a:p>
            </p:txBody>
          </p:sp>
          <p:pic>
            <p:nvPicPr>
              <p:cNvPr id="12" name="Picture 11" descr="\documentclass{article}&#10;\usepackage{amsmath}&#10;\pagestyle{empty}&#10;\begin{document}&#10;&#10;\[&#10;raw\ point\ cloud&#10;\]&#10;&#10;&#10;&#10;\end{document}" title="IguanaTex Bitmap Display">
                <a:extLst>
                  <a:ext uri="{FF2B5EF4-FFF2-40B4-BE49-F238E27FC236}">
                    <a16:creationId xmlns:a16="http://schemas.microsoft.com/office/drawing/2014/main" id="{D92592AE-8C6C-784F-507F-5595473868D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68125" y="3070587"/>
                <a:ext cx="1623793" cy="205068"/>
              </a:xfrm>
              <a:prstGeom prst="rect">
                <a:avLst/>
              </a:prstGeom>
            </p:spPr>
          </p:pic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18CCF35-7456-224B-D9C8-4D76CE13C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0216" y="3452337"/>
                <a:ext cx="734598" cy="0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787640E-B9C3-C238-FC87-E598A27B99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7025" y="3099895"/>
                <a:ext cx="1992996" cy="1964028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C4BF029-05B6-A1A2-E3F0-64B3C7D126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4278" y="3409360"/>
                <a:ext cx="2051489" cy="1699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AB1A02D-6150-4F70-F2A0-39D90564F9D7}"/>
                  </a:ext>
                </a:extLst>
              </p:cNvPr>
              <p:cNvSpPr/>
              <p:nvPr/>
            </p:nvSpPr>
            <p:spPr>
              <a:xfrm>
                <a:off x="7230646" y="3143488"/>
                <a:ext cx="1223748" cy="531745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Node-1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585C976-4EAA-D1C3-2A13-97A22140C6C2}"/>
                  </a:ext>
                </a:extLst>
              </p:cNvPr>
              <p:cNvSpPr/>
              <p:nvPr/>
            </p:nvSpPr>
            <p:spPr>
              <a:xfrm>
                <a:off x="10071003" y="3694576"/>
                <a:ext cx="1064514" cy="757416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Rocco</a:t>
                </a:r>
              </a:p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(M2PC)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EC02FA6-9DF2-2264-1C4E-3E648AC779C6}"/>
                  </a:ext>
                </a:extLst>
              </p:cNvPr>
              <p:cNvSpPr/>
              <p:nvPr/>
            </p:nvSpPr>
            <p:spPr>
              <a:xfrm>
                <a:off x="7230646" y="4441262"/>
                <a:ext cx="1223748" cy="531745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Node-2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F8A4D7E-7E2B-169E-823E-63A2AB7F501F}"/>
                  </a:ext>
                </a:extLst>
              </p:cNvPr>
              <p:cNvCxnSpPr>
                <a:cxnSpLocks/>
                <a:stCxn id="16" idx="3"/>
                <a:endCxn id="17" idx="1"/>
              </p:cNvCxnSpPr>
              <p:nvPr/>
            </p:nvCxnSpPr>
            <p:spPr>
              <a:xfrm>
                <a:off x="8454394" y="3409361"/>
                <a:ext cx="1616609" cy="663923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DE15088-AC54-0465-98EA-48B526F9C0BD}"/>
                  </a:ext>
                </a:extLst>
              </p:cNvPr>
              <p:cNvCxnSpPr>
                <a:cxnSpLocks/>
                <a:stCxn id="17" idx="1"/>
                <a:endCxn id="18" idx="3"/>
              </p:cNvCxnSpPr>
              <p:nvPr/>
            </p:nvCxnSpPr>
            <p:spPr>
              <a:xfrm flipH="1">
                <a:off x="8454394" y="4073284"/>
                <a:ext cx="1616609" cy="633851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C9E55A4-06C2-ECD2-B6B5-F80EB94F61AE}"/>
                  </a:ext>
                </a:extLst>
              </p:cNvPr>
              <p:cNvSpPr/>
              <p:nvPr/>
            </p:nvSpPr>
            <p:spPr>
              <a:xfrm>
                <a:off x="3693231" y="4398920"/>
                <a:ext cx="1402778" cy="616431"/>
              </a:xfrm>
              <a:prstGeom prst="roundRect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00B0F0"/>
                    </a:solidFill>
                  </a:rPr>
                  <a:t>Impedance controller</a:t>
                </a:r>
                <a:endParaRPr lang="zh-CN" altLang="en-US" b="1" dirty="0">
                  <a:solidFill>
                    <a:srgbClr val="00B0F0"/>
                  </a:solidFill>
                </a:endParaRP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A56C04E8-656C-C3F8-D657-1E51AB8175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0216" y="4707135"/>
                <a:ext cx="682807" cy="0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5F17159-75A3-606D-3134-C23E116A89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8125" y="4707135"/>
                <a:ext cx="1714095" cy="0"/>
              </a:xfrm>
              <a:prstGeom prst="straightConnector1">
                <a:avLst/>
              </a:prstGeom>
              <a:ln w="28575"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4" name="Picture 23" descr="\documentclass{article}&#10;\usepackage{amsmath}&#10;\pagestyle{empty}&#10;\begin{document}&#10;&#10;\[&#10;position \ command&#10;\]&#10;&#10;&#10;&#10;\end{document}" title="IguanaTex Bitmap Display">
                <a:extLst>
                  <a:ext uri="{FF2B5EF4-FFF2-40B4-BE49-F238E27FC236}">
                    <a16:creationId xmlns:a16="http://schemas.microsoft.com/office/drawing/2014/main" id="{C36CFB02-7560-FBA6-8A1B-ACA1C350737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66217" y="4338728"/>
                <a:ext cx="1919535" cy="205068"/>
              </a:xfrm>
              <a:prstGeom prst="rect">
                <a:avLst/>
              </a:prstGeom>
            </p:spPr>
          </p:pic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081589F6-5BCA-693D-EDCE-F950BA8AC0B7}"/>
                  </a:ext>
                </a:extLst>
              </p:cNvPr>
              <p:cNvSpPr/>
              <p:nvPr/>
            </p:nvSpPr>
            <p:spPr>
              <a:xfrm>
                <a:off x="10071003" y="5115915"/>
                <a:ext cx="1064514" cy="757416"/>
              </a:xfrm>
              <a:prstGeom prst="roundRect">
                <a:avLst/>
              </a:prstGeom>
              <a:ln w="19050">
                <a:solidFill>
                  <a:srgbClr val="002060"/>
                </a:solidFill>
                <a:prstDash val="sys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2"/>
                    </a:solidFill>
                  </a:rPr>
                  <a:t>Rope</a:t>
                </a:r>
              </a:p>
              <a:p>
                <a:pPr algn="ctr"/>
                <a:r>
                  <a:rPr lang="en-US" altLang="zh-CN" b="1" dirty="0">
                    <a:solidFill>
                      <a:schemeClr val="accent2"/>
                    </a:solidFill>
                  </a:rPr>
                  <a:t>Model</a:t>
                </a:r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97CA832-59FD-FC51-25AD-AB6128157AD7}"/>
                  </a:ext>
                </a:extLst>
              </p:cNvPr>
              <p:cNvCxnSpPr>
                <a:cxnSpLocks/>
                <a:stCxn id="25" idx="0"/>
                <a:endCxn id="17" idx="2"/>
              </p:cNvCxnSpPr>
              <p:nvPr/>
            </p:nvCxnSpPr>
            <p:spPr>
              <a:xfrm flipV="1">
                <a:off x="10603260" y="4451992"/>
                <a:ext cx="0" cy="66392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B4DA80-B905-299C-38A2-F9740C773C2B}"/>
                  </a:ext>
                </a:extLst>
              </p:cNvPr>
              <p:cNvSpPr txBox="1"/>
              <p:nvPr/>
            </p:nvSpPr>
            <p:spPr>
              <a:xfrm rot="20234031">
                <a:off x="8729448" y="4422156"/>
                <a:ext cx="1407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Acceleration</a:t>
                </a:r>
                <a:endParaRPr lang="zh-CN" altLang="en-US" dirty="0"/>
              </a:p>
            </p:txBody>
          </p:sp>
        </p:grp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A83BF1-91E0-FA76-667B-BC13F2F084F6}"/>
              </a:ext>
            </a:extLst>
          </p:cNvPr>
          <p:cNvCxnSpPr>
            <a:cxnSpLocks/>
          </p:cNvCxnSpPr>
          <p:nvPr/>
        </p:nvCxnSpPr>
        <p:spPr>
          <a:xfrm>
            <a:off x="6947877" y="1332996"/>
            <a:ext cx="1726186" cy="46166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AEA2C99-F88B-A013-7CF0-5C7C587F463D}"/>
              </a:ext>
            </a:extLst>
          </p:cNvPr>
          <p:cNvSpPr txBox="1"/>
          <p:nvPr/>
        </p:nvSpPr>
        <p:spPr>
          <a:xfrm>
            <a:off x="6984312" y="1750675"/>
            <a:ext cx="1689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</a:rPr>
              <a:t>Simulation</a:t>
            </a:r>
            <a:endParaRPr lang="zh-CN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8C3242-CEE1-9B2E-42CC-4AA9BC941301}"/>
              </a:ext>
            </a:extLst>
          </p:cNvPr>
          <p:cNvSpPr txBox="1"/>
          <p:nvPr/>
        </p:nvSpPr>
        <p:spPr>
          <a:xfrm>
            <a:off x="11093941" y="4641436"/>
            <a:ext cx="47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B4F648-7639-621C-6FD9-8EC560E34F48}"/>
              </a:ext>
            </a:extLst>
          </p:cNvPr>
          <p:cNvSpPr txBox="1"/>
          <p:nvPr/>
        </p:nvSpPr>
        <p:spPr>
          <a:xfrm>
            <a:off x="11110907" y="3266843"/>
            <a:ext cx="47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F77B9F-90F8-4C53-A96A-78505B4BE374}"/>
              </a:ext>
            </a:extLst>
          </p:cNvPr>
          <p:cNvSpPr txBox="1"/>
          <p:nvPr/>
        </p:nvSpPr>
        <p:spPr>
          <a:xfrm>
            <a:off x="8416561" y="2474247"/>
            <a:ext cx="47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B66BDF-B742-15A5-A335-D14B7710B861}"/>
              </a:ext>
            </a:extLst>
          </p:cNvPr>
          <p:cNvSpPr txBox="1"/>
          <p:nvPr/>
        </p:nvSpPr>
        <p:spPr>
          <a:xfrm>
            <a:off x="8418443" y="3797830"/>
            <a:ext cx="47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6FFF3-4BA4-3BF3-0474-07400AC1D5A6}"/>
              </a:ext>
            </a:extLst>
          </p:cNvPr>
          <p:cNvSpPr txBox="1"/>
          <p:nvPr/>
        </p:nvSpPr>
        <p:spPr>
          <a:xfrm>
            <a:off x="1591603" y="5631673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Time delay?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05D25F-007D-943C-17B3-E77EE59D42C3}"/>
              </a:ext>
            </a:extLst>
          </p:cNvPr>
          <p:cNvSpPr txBox="1"/>
          <p:nvPr/>
        </p:nvSpPr>
        <p:spPr>
          <a:xfrm>
            <a:off x="4135162" y="5631672"/>
            <a:ext cx="3017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</a:rPr>
              <a:t>Actuator </a:t>
            </a:r>
            <a:r>
              <a:rPr lang="en-US" altLang="zh-CN" sz="3200" dirty="0">
                <a:solidFill>
                  <a:srgbClr val="FF0000"/>
                </a:solidFill>
              </a:rPr>
              <a:t>delay?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2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_1775234849899">
            <a:hlinkClick r:id="" action="ppaction://media"/>
            <a:extLst>
              <a:ext uri="{FF2B5EF4-FFF2-40B4-BE49-F238E27FC236}">
                <a16:creationId xmlns:a16="http://schemas.microsoft.com/office/drawing/2014/main" id="{7A006F95-13E5-F2C5-75FF-7C2D2E4E62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42166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7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4AF568-B525-A50A-93DC-A28E5347FC80}"/>
              </a:ext>
            </a:extLst>
          </p:cNvPr>
          <p:cNvSpPr txBox="1"/>
          <p:nvPr/>
        </p:nvSpPr>
        <p:spPr>
          <a:xfrm>
            <a:off x="353560" y="492370"/>
            <a:ext cx="10494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Open-loop Experiment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E85323-0D01-BAA5-53B6-163FB4D80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60" y="1594338"/>
            <a:ext cx="6551991" cy="44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7A7BEF-DE85-8951-DB21-60DD1EAB6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283" y="1305168"/>
            <a:ext cx="5958929" cy="506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65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ADBDCE-B5AB-1DB1-C531-EAF7EC93ADC8}"/>
              </a:ext>
            </a:extLst>
          </p:cNvPr>
          <p:cNvSpPr txBox="1"/>
          <p:nvPr/>
        </p:nvSpPr>
        <p:spPr>
          <a:xfrm>
            <a:off x="353560" y="492370"/>
            <a:ext cx="10494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chemeClr val="accent2"/>
                </a:solidFill>
              </a:rPr>
              <a:t>Discussion</a:t>
            </a:r>
            <a:endParaRPr lang="zh-CN" altLang="en-US" sz="3200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3185D-F9C9-01B8-B838-161CB84C7D80}"/>
              </a:ext>
            </a:extLst>
          </p:cNvPr>
          <p:cNvSpPr txBox="1"/>
          <p:nvPr/>
        </p:nvSpPr>
        <p:spPr>
          <a:xfrm>
            <a:off x="2039816" y="2258647"/>
            <a:ext cx="508184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dirty="0"/>
              <a:t>Open-loop control</a:t>
            </a:r>
          </a:p>
          <a:p>
            <a:r>
              <a:rPr lang="en-US" altLang="zh-CN" sz="2400" dirty="0"/>
              <a:t>	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dirty="0"/>
              <a:t>Refine the system</a:t>
            </a:r>
          </a:p>
          <a:p>
            <a:pPr marL="800100" lvl="1" indent="-342900">
              <a:buFontTx/>
              <a:buChar char="-"/>
            </a:pPr>
            <a:r>
              <a:rPr lang="en-US" altLang="zh-CN" sz="2000" dirty="0"/>
              <a:t>Convert to C++</a:t>
            </a:r>
          </a:p>
          <a:p>
            <a:pPr marL="800100" lvl="1" indent="-342900">
              <a:buFontTx/>
              <a:buChar char="-"/>
            </a:pPr>
            <a:r>
              <a:rPr lang="en-US" altLang="zh-CN" sz="2000" dirty="0"/>
              <a:t>Model the delay or change controller</a:t>
            </a:r>
          </a:p>
          <a:p>
            <a:pPr marL="800100" lvl="1" indent="-342900">
              <a:buFontTx/>
              <a:buChar char="-"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7362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4D58-361A-7D73-1808-C9CDDADF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CE36E-A6EA-CDC7-7CC5-A6C67981D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09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5847-C29B-E4C1-2BEA-2D513064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74FAA-0A53-A9BF-B74F-2AD4854B2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97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E02B-69C6-396D-1DD6-B40DACB8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CCFA7-EA27-44FB-BA7E-8B1CC59B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50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E6A6-6C1E-8141-DFD5-B1B76CC1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75836-DD5E-DBCF-C3F2-74FE6162E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848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375CB-496A-FB63-D3B2-0E7E8F5A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AC04B-C887-FA1F-A431-2352D8602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975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E3DA-F5CD-FBB2-322A-FFBD997E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82BA-4D3C-C7B9-93CC-9570CC9E0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037392-6139-370A-13C5-87B4F1041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3286123"/>
            <a:ext cx="5257800" cy="24739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62D01-04AE-B68E-1F3A-C53CE8E66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588641"/>
            <a:ext cx="5257800" cy="247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141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872.8909"/>
  <p:tag name="LATEXADDIN" val="\documentclass{article}&#10;\usepackage{amsmath}&#10;\pagestyle{empty}&#10;\begin{document}&#10;&#10;\[&#10;raw\ point\ cloud&#10;\]&#10;&#10;&#10;&#10;\end{document}"/>
  <p:tag name="IGUANATEXSIZE" val="18"/>
  <p:tag name="IGUANATEXCURSOR" val="95"/>
  <p:tag name="TRANSPARENCY" val="True"/>
  <p:tag name="LATEXENGINEID" val="0"/>
  <p:tag name="TEMPFOLDER" val="d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1031.871"/>
  <p:tag name="LATEXADDIN" val="\documentclass{article}&#10;\usepackage{amsmath}&#10;\pagestyle{empty}&#10;\begin{document}&#10;&#10;\[&#10;position \ command&#10;\]&#10;&#10;&#10;&#10;\end{document}"/>
  <p:tag name="IGUANATEXSIZE" val="18"/>
  <p:tag name="IGUANATEXCURSOR" val="102"/>
  <p:tag name="TRANSPARENCY" val="True"/>
  <p:tag name="LATEXENGINEID" val="0"/>
  <p:tag name="TEMPFOLDER" val="d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872.8909"/>
  <p:tag name="LATEXADDIN" val="\documentclass{article}&#10;\usepackage{amsmath}&#10;\pagestyle{empty}&#10;\begin{document}&#10;&#10;\[&#10;raw\ point\ cloud&#10;\]&#10;&#10;&#10;&#10;\end{document}"/>
  <p:tag name="IGUANATEXSIZE" val="18"/>
  <p:tag name="IGUANATEXCURSOR" val="95"/>
  <p:tag name="TRANSPARENCY" val="True"/>
  <p:tag name="LATEXENGINEID" val="0"/>
  <p:tag name="TEMPFOLDER" val="d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1031.871"/>
  <p:tag name="LATEXADDIN" val="\documentclass{article}&#10;\usepackage{amsmath}&#10;\pagestyle{empty}&#10;\begin{document}&#10;&#10;\[&#10;position \ command&#10;\]&#10;&#10;&#10;&#10;\end{document}"/>
  <p:tag name="IGUANATEXSIZE" val="18"/>
  <p:tag name="IGUANATEXCURSOR" val="102"/>
  <p:tag name="TRANSPARENCY" val="True"/>
  <p:tag name="LATEXENGINEID" val="0"/>
  <p:tag name="TEMPFOLDER" val="d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440</Words>
  <Application>Microsoft Office PowerPoint</Application>
  <PresentationFormat>Widescreen</PresentationFormat>
  <Paragraphs>113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Youyuan Long</dc:creator>
  <cp:lastModifiedBy>Youyuan Long</cp:lastModifiedBy>
  <cp:revision>10</cp:revision>
  <dcterms:created xsi:type="dcterms:W3CDTF">2026-02-14T16:52:16Z</dcterms:created>
  <dcterms:modified xsi:type="dcterms:W3CDTF">2026-04-08T08:15:12Z</dcterms:modified>
</cp:coreProperties>
</file>